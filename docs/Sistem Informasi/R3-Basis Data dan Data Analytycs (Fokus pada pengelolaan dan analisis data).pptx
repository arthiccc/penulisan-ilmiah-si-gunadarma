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Arimo" charset="1" panose="020B0604020202020204"/>
      <p:regular r:id="rId34"/>
    </p:embeddedFont>
    <p:embeddedFont>
      <p:font typeface="Arimo Italics" charset="1" panose="020B0604020202090204"/>
      <p:regular r:id="rId35"/>
    </p:embeddedFont>
    <p:embeddedFont>
      <p:font typeface="League Spartan" charset="1" panose="00000800000000000000"/>
      <p:regular r:id="rId36"/>
    </p:embeddedFont>
    <p:embeddedFont>
      <p:font typeface="Museo Moderno Light" charset="1" panose="00000000000000000000"/>
      <p:regular r:id="rId37"/>
    </p:embeddedFont>
    <p:embeddedFont>
      <p:font typeface="Museo Moderno Bold" charset="1" panose="00000000000000000000"/>
      <p:regular r:id="rId38"/>
    </p:embeddedFont>
    <p:embeddedFont>
      <p:font typeface="Agrandir Italics" charset="1" panose="00000500000000000000"/>
      <p:regular r:id="rId39"/>
    </p:embeddedFont>
    <p:embeddedFont>
      <p:font typeface="Arimo Bold" charset="1" panose="020B0704020202020204"/>
      <p:regular r:id="rId40"/>
    </p:embeddedFont>
    <p:embeddedFont>
      <p:font typeface="Fredoka" charset="1" panose="020000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https://drive.google.com/file/d/1_5k0yKFj2MGH5kkQd_xRXKV7fvg3ya8S/view?usp=sharing" TargetMode="External" Type="http://schemas.openxmlformats.org/officeDocument/2006/relationships/hyperlink"/><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 Id="rId6" Target="../media/image3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4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4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 Id="rId3" Target="../media/image49.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56.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60.png" Type="http://schemas.openxmlformats.org/officeDocument/2006/relationships/image"/><Relationship Id="rId5" Target="../media/image61.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2.png" Type="http://schemas.openxmlformats.org/officeDocument/2006/relationships/image"/><Relationship Id="rId3" Target="../media/image6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4.png" Type="http://schemas.openxmlformats.org/officeDocument/2006/relationships/image"/><Relationship Id="rId3" Target="../media/image65.svg" Type="http://schemas.openxmlformats.org/officeDocument/2006/relationships/image"/><Relationship Id="rId4" Target="../media/image66.png" Type="http://schemas.openxmlformats.org/officeDocument/2006/relationships/image"/><Relationship Id="rId5" Target="../media/image67.svg" Type="http://schemas.openxmlformats.org/officeDocument/2006/relationships/image"/><Relationship Id="rId6" Target="../media/image68.png" Type="http://schemas.openxmlformats.org/officeDocument/2006/relationships/image"/><Relationship Id="rId7" Target="../media/image69.svg" Type="http://schemas.openxmlformats.org/officeDocument/2006/relationships/image"/><Relationship Id="rId8" Target="../media/image70.png" Type="http://schemas.openxmlformats.org/officeDocument/2006/relationships/image"/><Relationship Id="rId9" Target="../media/image71.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72.png" Type="http://schemas.openxmlformats.org/officeDocument/2006/relationships/image"/><Relationship Id="rId5" Target="../media/image73.svg" Type="http://schemas.openxmlformats.org/officeDocument/2006/relationships/image"/><Relationship Id="rId6" Target="../media/image74.png" Type="http://schemas.openxmlformats.org/officeDocument/2006/relationships/image"/><Relationship Id="rId7" Target="../media/image7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998007">
            <a:off x="-9122350" y="-10238399"/>
            <a:ext cx="15928608" cy="12974575"/>
          </a:xfrm>
          <a:custGeom>
            <a:avLst/>
            <a:gdLst/>
            <a:ahLst/>
            <a:cxnLst/>
            <a:rect r="r" b="b" t="t" l="l"/>
            <a:pathLst>
              <a:path h="12974575" w="15928608">
                <a:moveTo>
                  <a:pt x="0" y="0"/>
                </a:moveTo>
                <a:lnTo>
                  <a:pt x="15928608" y="0"/>
                </a:lnTo>
                <a:lnTo>
                  <a:pt x="15928608" y="12974575"/>
                </a:lnTo>
                <a:lnTo>
                  <a:pt x="0" y="12974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7581133" y="8405994"/>
            <a:ext cx="17219666" cy="14026201"/>
          </a:xfrm>
          <a:custGeom>
            <a:avLst/>
            <a:gdLst/>
            <a:ahLst/>
            <a:cxnLst/>
            <a:rect r="r" b="b" t="t" l="l"/>
            <a:pathLst>
              <a:path h="14026201" w="17219666">
                <a:moveTo>
                  <a:pt x="0" y="14026201"/>
                </a:moveTo>
                <a:lnTo>
                  <a:pt x="17219666" y="14026201"/>
                </a:lnTo>
                <a:lnTo>
                  <a:pt x="17219666" y="0"/>
                </a:lnTo>
                <a:lnTo>
                  <a:pt x="0" y="0"/>
                </a:lnTo>
                <a:lnTo>
                  <a:pt x="0" y="140262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true" rot="0">
            <a:off x="-3785925" y="-13126603"/>
            <a:ext cx="17219666" cy="14026201"/>
          </a:xfrm>
          <a:custGeom>
            <a:avLst/>
            <a:gdLst/>
            <a:ahLst/>
            <a:cxnLst/>
            <a:rect r="r" b="b" t="t" l="l"/>
            <a:pathLst>
              <a:path h="14026201" w="17219666">
                <a:moveTo>
                  <a:pt x="0" y="14026201"/>
                </a:moveTo>
                <a:lnTo>
                  <a:pt x="17219666" y="14026201"/>
                </a:lnTo>
                <a:lnTo>
                  <a:pt x="17219666" y="0"/>
                </a:lnTo>
                <a:lnTo>
                  <a:pt x="0" y="0"/>
                </a:lnTo>
                <a:lnTo>
                  <a:pt x="0" y="140262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998007">
            <a:off x="-8218560" y="8931807"/>
            <a:ext cx="15928608" cy="12974575"/>
          </a:xfrm>
          <a:custGeom>
            <a:avLst/>
            <a:gdLst/>
            <a:ahLst/>
            <a:cxnLst/>
            <a:rect r="r" b="b" t="t" l="l"/>
            <a:pathLst>
              <a:path h="12974575" w="15928608">
                <a:moveTo>
                  <a:pt x="0" y="0"/>
                </a:moveTo>
                <a:lnTo>
                  <a:pt x="15928608" y="0"/>
                </a:lnTo>
                <a:lnTo>
                  <a:pt x="15928608" y="12974575"/>
                </a:lnTo>
                <a:lnTo>
                  <a:pt x="0" y="12974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910695" y="3174462"/>
            <a:ext cx="7826426" cy="1023840"/>
          </a:xfrm>
          <a:prstGeom prst="rect">
            <a:avLst/>
          </a:prstGeom>
        </p:spPr>
        <p:txBody>
          <a:bodyPr anchor="t" rtlCol="false" tIns="0" lIns="0" bIns="0" rIns="0">
            <a:spAutoFit/>
          </a:bodyPr>
          <a:lstStyle/>
          <a:p>
            <a:pPr algn="ctr">
              <a:lnSpc>
                <a:spcPts val="8142"/>
              </a:lnSpc>
              <a:spcBef>
                <a:spcPct val="0"/>
              </a:spcBef>
            </a:pPr>
            <a:r>
              <a:rPr lang="en-US" sz="5816">
                <a:solidFill>
                  <a:srgbClr val="F26B6D"/>
                </a:solidFill>
                <a:latin typeface="Arimo"/>
                <a:ea typeface="Arimo"/>
                <a:cs typeface="Arimo"/>
                <a:sym typeface="Arimo"/>
              </a:rPr>
              <a:t>W  O  R  K  S  H  O  P</a:t>
            </a:r>
          </a:p>
        </p:txBody>
      </p:sp>
      <p:sp>
        <p:nvSpPr>
          <p:cNvPr name="TextBox 7" id="7"/>
          <p:cNvSpPr txBox="true"/>
          <p:nvPr/>
        </p:nvSpPr>
        <p:spPr>
          <a:xfrm rot="0">
            <a:off x="1028700" y="5825403"/>
            <a:ext cx="8935339" cy="898119"/>
          </a:xfrm>
          <a:prstGeom prst="rect">
            <a:avLst/>
          </a:prstGeom>
        </p:spPr>
        <p:txBody>
          <a:bodyPr anchor="t" rtlCol="false" tIns="0" lIns="0" bIns="0" rIns="0">
            <a:spAutoFit/>
          </a:bodyPr>
          <a:lstStyle/>
          <a:p>
            <a:pPr algn="l">
              <a:lnSpc>
                <a:spcPts val="7197"/>
              </a:lnSpc>
              <a:spcBef>
                <a:spcPct val="0"/>
              </a:spcBef>
            </a:pPr>
            <a:r>
              <a:rPr lang="en-US" sz="5140" i="true">
                <a:solidFill>
                  <a:srgbClr val="F26B6D"/>
                </a:solidFill>
                <a:latin typeface="Arimo Italics"/>
                <a:ea typeface="Arimo Italics"/>
                <a:cs typeface="Arimo Italics"/>
                <a:sym typeface="Arimo Italics"/>
              </a:rPr>
              <a:t>Basis Data Dan Data Analytics</a:t>
            </a:r>
          </a:p>
        </p:txBody>
      </p:sp>
      <p:sp>
        <p:nvSpPr>
          <p:cNvPr name="TextBox 8" id="8"/>
          <p:cNvSpPr txBox="true"/>
          <p:nvPr/>
        </p:nvSpPr>
        <p:spPr>
          <a:xfrm rot="0">
            <a:off x="1028700" y="4084002"/>
            <a:ext cx="11356088" cy="1783152"/>
          </a:xfrm>
          <a:prstGeom prst="rect">
            <a:avLst/>
          </a:prstGeom>
        </p:spPr>
        <p:txBody>
          <a:bodyPr anchor="t" rtlCol="false" tIns="0" lIns="0" bIns="0" rIns="0">
            <a:spAutoFit/>
          </a:bodyPr>
          <a:lstStyle/>
          <a:p>
            <a:pPr algn="l">
              <a:lnSpc>
                <a:spcPts val="14591"/>
              </a:lnSpc>
              <a:spcBef>
                <a:spcPct val="0"/>
              </a:spcBef>
            </a:pPr>
            <a:r>
              <a:rPr lang="en-US" sz="10422">
                <a:solidFill>
                  <a:srgbClr val="F26B6D"/>
                </a:solidFill>
                <a:latin typeface="League Spartan"/>
                <a:ea typeface="League Spartan"/>
                <a:cs typeface="League Spartan"/>
                <a:sym typeface="League Spartan"/>
              </a:rPr>
              <a:t>Penulisan Ilmiah</a:t>
            </a:r>
          </a:p>
        </p:txBody>
      </p:sp>
      <p:sp>
        <p:nvSpPr>
          <p:cNvPr name="Freeform 9" id="9"/>
          <p:cNvSpPr/>
          <p:nvPr/>
        </p:nvSpPr>
        <p:spPr>
          <a:xfrm flipH="false" flipV="false" rot="0">
            <a:off x="11578442" y="3259106"/>
            <a:ext cx="6709558" cy="7027894"/>
          </a:xfrm>
          <a:custGeom>
            <a:avLst/>
            <a:gdLst/>
            <a:ahLst/>
            <a:cxnLst/>
            <a:rect r="r" b="b" t="t" l="l"/>
            <a:pathLst>
              <a:path h="7027894" w="6709558">
                <a:moveTo>
                  <a:pt x="0" y="0"/>
                </a:moveTo>
                <a:lnTo>
                  <a:pt x="6709558" y="0"/>
                </a:lnTo>
                <a:lnTo>
                  <a:pt x="6709558" y="7027894"/>
                </a:lnTo>
                <a:lnTo>
                  <a:pt x="0" y="70278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1066758" y="262137"/>
            <a:ext cx="7221242" cy="637460"/>
          </a:xfrm>
          <a:prstGeom prst="rect">
            <a:avLst/>
          </a:prstGeom>
        </p:spPr>
        <p:txBody>
          <a:bodyPr anchor="t" rtlCol="false" tIns="0" lIns="0" bIns="0" rIns="0">
            <a:spAutoFit/>
          </a:bodyPr>
          <a:lstStyle/>
          <a:p>
            <a:pPr algn="ctr">
              <a:lnSpc>
                <a:spcPts val="4846"/>
              </a:lnSpc>
            </a:pPr>
            <a:r>
              <a:rPr lang="en-US" sz="4846" spc="319">
                <a:solidFill>
                  <a:srgbClr val="1E5175"/>
                </a:solidFill>
                <a:latin typeface="Museo Moderno Light"/>
                <a:ea typeface="Museo Moderno Light"/>
                <a:cs typeface="Museo Moderno Light"/>
                <a:sym typeface="Museo Moderno Light"/>
              </a:rPr>
              <a:t>SISTEM INFORMASI</a:t>
            </a:r>
          </a:p>
        </p:txBody>
      </p:sp>
      <p:sp>
        <p:nvSpPr>
          <p:cNvPr name="TextBox 11" id="11"/>
          <p:cNvSpPr txBox="true"/>
          <p:nvPr/>
        </p:nvSpPr>
        <p:spPr>
          <a:xfrm rot="0">
            <a:off x="2304809" y="9048263"/>
            <a:ext cx="13510881" cy="1177924"/>
          </a:xfrm>
          <a:prstGeom prst="rect">
            <a:avLst/>
          </a:prstGeom>
        </p:spPr>
        <p:txBody>
          <a:bodyPr anchor="t" rtlCol="false" tIns="0" lIns="0" bIns="0" rIns="0">
            <a:spAutoFit/>
          </a:bodyPr>
          <a:lstStyle/>
          <a:p>
            <a:pPr algn="ctr">
              <a:lnSpc>
                <a:spcPts val="8499"/>
              </a:lnSpc>
            </a:pPr>
            <a:r>
              <a:rPr lang="en-US" b="true" sz="9999" spc="-1749">
                <a:solidFill>
                  <a:srgbClr val="FE7AC1"/>
                </a:solidFill>
                <a:latin typeface="Museo Moderno Bold"/>
                <a:ea typeface="Museo Moderno Bold"/>
                <a:cs typeface="Museo Moderno Bold"/>
                <a:sym typeface="Museo Moderno Bold"/>
              </a:rPr>
              <a:t>2025</a:t>
            </a:r>
          </a:p>
        </p:txBody>
      </p:sp>
      <p:sp>
        <p:nvSpPr>
          <p:cNvPr name="TextBox 12" id="12"/>
          <p:cNvSpPr txBox="true"/>
          <p:nvPr/>
        </p:nvSpPr>
        <p:spPr>
          <a:xfrm rot="0">
            <a:off x="1028700" y="6571123"/>
            <a:ext cx="8935339" cy="641578"/>
          </a:xfrm>
          <a:prstGeom prst="rect">
            <a:avLst/>
          </a:prstGeom>
        </p:spPr>
        <p:txBody>
          <a:bodyPr anchor="t" rtlCol="false" tIns="0" lIns="0" bIns="0" rIns="0">
            <a:spAutoFit/>
          </a:bodyPr>
          <a:lstStyle/>
          <a:p>
            <a:pPr algn="l">
              <a:lnSpc>
                <a:spcPts val="4537"/>
              </a:lnSpc>
              <a:spcBef>
                <a:spcPct val="0"/>
              </a:spcBef>
            </a:pPr>
            <a:r>
              <a:rPr lang="en-US" sz="3241" i="true">
                <a:solidFill>
                  <a:srgbClr val="7B95F9"/>
                </a:solidFill>
                <a:latin typeface="Agrandir Italics"/>
                <a:ea typeface="Agrandir Italics"/>
                <a:cs typeface="Agrandir Italics"/>
                <a:sym typeface="Agrandir Italics"/>
              </a:rPr>
              <a:t>Fokus pada pengelolaan data dan analisis data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952834" y="417069"/>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0312" y="2943510"/>
            <a:ext cx="5046346" cy="4486660"/>
          </a:xfrm>
          <a:custGeom>
            <a:avLst/>
            <a:gdLst/>
            <a:ahLst/>
            <a:cxnLst/>
            <a:rect r="r" b="b" t="t" l="l"/>
            <a:pathLst>
              <a:path h="4486660" w="5046346">
                <a:moveTo>
                  <a:pt x="0" y="0"/>
                </a:moveTo>
                <a:lnTo>
                  <a:pt x="5046345" y="0"/>
                </a:lnTo>
                <a:lnTo>
                  <a:pt x="5046345" y="4486660"/>
                </a:lnTo>
                <a:lnTo>
                  <a:pt x="0" y="44866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035420" y="2312306"/>
            <a:ext cx="4953371" cy="3107115"/>
          </a:xfrm>
          <a:custGeom>
            <a:avLst/>
            <a:gdLst/>
            <a:ahLst/>
            <a:cxnLst/>
            <a:rect r="r" b="b" t="t" l="l"/>
            <a:pathLst>
              <a:path h="3107115" w="4953371">
                <a:moveTo>
                  <a:pt x="0" y="0"/>
                </a:moveTo>
                <a:lnTo>
                  <a:pt x="4953371" y="0"/>
                </a:lnTo>
                <a:lnTo>
                  <a:pt x="4953371" y="3107115"/>
                </a:lnTo>
                <a:lnTo>
                  <a:pt x="0" y="31071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3955732">
            <a:off x="10583654" y="3860203"/>
            <a:ext cx="901578" cy="2083479"/>
          </a:xfrm>
          <a:custGeom>
            <a:avLst/>
            <a:gdLst/>
            <a:ahLst/>
            <a:cxnLst/>
            <a:rect r="r" b="b" t="t" l="l"/>
            <a:pathLst>
              <a:path h="2083479" w="901578">
                <a:moveTo>
                  <a:pt x="0" y="0"/>
                </a:moveTo>
                <a:lnTo>
                  <a:pt x="901578" y="0"/>
                </a:lnTo>
                <a:lnTo>
                  <a:pt x="901578" y="2083479"/>
                </a:lnTo>
                <a:lnTo>
                  <a:pt x="0" y="20834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1988791" y="2312306"/>
            <a:ext cx="5807760" cy="5807760"/>
          </a:xfrm>
          <a:custGeom>
            <a:avLst/>
            <a:gdLst/>
            <a:ahLst/>
            <a:cxnLst/>
            <a:rect r="r" b="b" t="t" l="l"/>
            <a:pathLst>
              <a:path h="5807760" w="5807760">
                <a:moveTo>
                  <a:pt x="0" y="0"/>
                </a:moveTo>
                <a:lnTo>
                  <a:pt x="5807761" y="0"/>
                </a:lnTo>
                <a:lnTo>
                  <a:pt x="5807761" y="5807761"/>
                </a:lnTo>
                <a:lnTo>
                  <a:pt x="0" y="5807761"/>
                </a:lnTo>
                <a:lnTo>
                  <a:pt x="0" y="0"/>
                </a:lnTo>
                <a:close/>
              </a:path>
            </a:pathLst>
          </a:custGeom>
          <a:blipFill>
            <a:blip r:embed="rId10"/>
            <a:stretch>
              <a:fillRect l="0" t="0" r="0" b="0"/>
            </a:stretch>
          </a:blipFill>
        </p:spPr>
      </p:sp>
      <p:sp>
        <p:nvSpPr>
          <p:cNvPr name="TextBox 7" id="7"/>
          <p:cNvSpPr txBox="true"/>
          <p:nvPr/>
        </p:nvSpPr>
        <p:spPr>
          <a:xfrm rot="0">
            <a:off x="6269209" y="8623958"/>
            <a:ext cx="10916158" cy="1173435"/>
          </a:xfrm>
          <a:prstGeom prst="rect">
            <a:avLst/>
          </a:prstGeom>
        </p:spPr>
        <p:txBody>
          <a:bodyPr anchor="t" rtlCol="false" tIns="0" lIns="0" bIns="0" rIns="0">
            <a:spAutoFit/>
          </a:bodyPr>
          <a:lstStyle/>
          <a:p>
            <a:pPr algn="just">
              <a:lnSpc>
                <a:spcPts val="4618"/>
              </a:lnSpc>
              <a:spcBef>
                <a:spcPct val="0"/>
              </a:spcBef>
            </a:pPr>
            <a:r>
              <a:rPr lang="en-US" sz="3298" u="sng">
                <a:solidFill>
                  <a:srgbClr val="866255"/>
                </a:solidFill>
                <a:latin typeface="Arimo"/>
                <a:ea typeface="Arimo"/>
                <a:cs typeface="Arimo"/>
                <a:sym typeface="Arimo"/>
                <a:hlinkClick r:id="rId11" tooltip="https://drive.google.com/file/d/1_5k0yKFj2MGH5kkQd_xRXKV7fvg3ya8S/view?usp=sharing"/>
              </a:rPr>
              <a:t>https://drive.google.com/file/d/1keWw2eY8EXjLLE0iUUvIKAiZQ7wFmQOQ/view</a:t>
            </a:r>
          </a:p>
        </p:txBody>
      </p:sp>
      <p:sp>
        <p:nvSpPr>
          <p:cNvPr name="TextBox 8" id="8"/>
          <p:cNvSpPr txBox="true"/>
          <p:nvPr/>
        </p:nvSpPr>
        <p:spPr>
          <a:xfrm rot="0">
            <a:off x="4809586" y="659768"/>
            <a:ext cx="12449714" cy="1053398"/>
          </a:xfrm>
          <a:prstGeom prst="rect">
            <a:avLst/>
          </a:prstGeom>
        </p:spPr>
        <p:txBody>
          <a:bodyPr anchor="t" rtlCol="false" tIns="0" lIns="0" bIns="0" rIns="0">
            <a:spAutoFit/>
          </a:bodyPr>
          <a:lstStyle/>
          <a:p>
            <a:pPr algn="ctr">
              <a:lnSpc>
                <a:spcPts val="8615"/>
              </a:lnSpc>
              <a:spcBef>
                <a:spcPct val="0"/>
              </a:spcBef>
            </a:pPr>
            <a:r>
              <a:rPr lang="en-US" sz="6154">
                <a:solidFill>
                  <a:srgbClr val="F58D05"/>
                </a:solidFill>
                <a:latin typeface="League Spartan"/>
                <a:ea typeface="League Spartan"/>
                <a:cs typeface="League Spartan"/>
                <a:sym typeface="League Spartan"/>
              </a:rPr>
              <a:t>PEDOMAN PENULISAN ILMIAH</a:t>
            </a:r>
          </a:p>
        </p:txBody>
      </p:sp>
      <p:sp>
        <p:nvSpPr>
          <p:cNvPr name="TextBox 9" id="9"/>
          <p:cNvSpPr txBox="true"/>
          <p:nvPr/>
        </p:nvSpPr>
        <p:spPr>
          <a:xfrm rot="0">
            <a:off x="6269209" y="8024045"/>
            <a:ext cx="6001739" cy="514379"/>
          </a:xfrm>
          <a:prstGeom prst="rect">
            <a:avLst/>
          </a:prstGeom>
        </p:spPr>
        <p:txBody>
          <a:bodyPr anchor="t" rtlCol="false" tIns="0" lIns="0" bIns="0" rIns="0">
            <a:spAutoFit/>
          </a:bodyPr>
          <a:lstStyle/>
          <a:p>
            <a:pPr algn="just">
              <a:lnSpc>
                <a:spcPts val="4198"/>
              </a:lnSpc>
              <a:spcBef>
                <a:spcPct val="0"/>
              </a:spcBef>
            </a:pPr>
            <a:r>
              <a:rPr lang="en-US" b="true" sz="2998">
                <a:solidFill>
                  <a:srgbClr val="866255"/>
                </a:solidFill>
                <a:latin typeface="Arimo Bold"/>
                <a:ea typeface="Arimo Bold"/>
                <a:cs typeface="Arimo Bold"/>
                <a:sym typeface="Arimo Bold"/>
              </a:rPr>
              <a:t>LINK PEDOMAN PENULISAN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952834" y="417069"/>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76323" y="3315370"/>
            <a:ext cx="5906509" cy="4114800"/>
          </a:xfrm>
          <a:custGeom>
            <a:avLst/>
            <a:gdLst/>
            <a:ahLst/>
            <a:cxnLst/>
            <a:rect r="r" b="b" t="t" l="l"/>
            <a:pathLst>
              <a:path h="4114800" w="5906509">
                <a:moveTo>
                  <a:pt x="0" y="0"/>
                </a:moveTo>
                <a:lnTo>
                  <a:pt x="5906509" y="0"/>
                </a:lnTo>
                <a:lnTo>
                  <a:pt x="590650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7537095" y="2333910"/>
            <a:ext cx="9586240" cy="2667000"/>
          </a:xfrm>
          <a:prstGeom prst="rect">
            <a:avLst/>
          </a:prstGeom>
        </p:spPr>
        <p:txBody>
          <a:bodyPr anchor="t" rtlCol="false" tIns="0" lIns="0" bIns="0" rIns="0">
            <a:spAutoFit/>
          </a:bodyPr>
          <a:lstStyle/>
          <a:p>
            <a:pPr algn="just">
              <a:lnSpc>
                <a:spcPts val="4200"/>
              </a:lnSpc>
              <a:spcBef>
                <a:spcPct val="0"/>
              </a:spcBef>
            </a:pPr>
            <a:r>
              <a:rPr lang="en-US" b="true" sz="3000">
                <a:solidFill>
                  <a:srgbClr val="866255"/>
                </a:solidFill>
                <a:latin typeface="Arimo Bold"/>
                <a:ea typeface="Arimo Bold"/>
                <a:cs typeface="Arimo Bold"/>
                <a:sym typeface="Arimo Bold"/>
              </a:rPr>
              <a:t>Basis data</a:t>
            </a:r>
            <a:r>
              <a:rPr lang="en-US" sz="3000">
                <a:solidFill>
                  <a:srgbClr val="866255"/>
                </a:solidFill>
                <a:latin typeface="Arimo"/>
                <a:ea typeface="Arimo"/>
                <a:cs typeface="Arimo"/>
                <a:sym typeface="Arimo"/>
              </a:rPr>
              <a:t> adalah kumpulan data yang terstruktur dan terorganisir yang dapat diakses, dikelola, dan diperbarui secara efisien. Basis data digunakan untuk menyimpan informasi dalam berbagai bidang, termasuk pendidikan, bisnis, dan indust</a:t>
            </a:r>
          </a:p>
        </p:txBody>
      </p:sp>
      <p:sp>
        <p:nvSpPr>
          <p:cNvPr name="TextBox 5" id="5"/>
          <p:cNvSpPr txBox="true"/>
          <p:nvPr/>
        </p:nvSpPr>
        <p:spPr>
          <a:xfrm rot="0">
            <a:off x="7537095" y="5067300"/>
            <a:ext cx="9586240" cy="1600200"/>
          </a:xfrm>
          <a:prstGeom prst="rect">
            <a:avLst/>
          </a:prstGeom>
        </p:spPr>
        <p:txBody>
          <a:bodyPr anchor="t" rtlCol="false" tIns="0" lIns="0" bIns="0" rIns="0">
            <a:spAutoFit/>
          </a:bodyPr>
          <a:lstStyle/>
          <a:p>
            <a:pPr algn="just">
              <a:lnSpc>
                <a:spcPts val="4200"/>
              </a:lnSpc>
              <a:spcBef>
                <a:spcPct val="0"/>
              </a:spcBef>
            </a:pPr>
            <a:r>
              <a:rPr lang="en-US" b="true" sz="3000">
                <a:solidFill>
                  <a:srgbClr val="866255"/>
                </a:solidFill>
                <a:latin typeface="Arimo Bold"/>
                <a:ea typeface="Arimo Bold"/>
                <a:cs typeface="Arimo Bold"/>
                <a:sym typeface="Arimo Bold"/>
              </a:rPr>
              <a:t>Data Analytics</a:t>
            </a:r>
            <a:r>
              <a:rPr lang="en-US" sz="3000">
                <a:solidFill>
                  <a:srgbClr val="866255"/>
                </a:solidFill>
                <a:latin typeface="Arimo"/>
                <a:ea typeface="Arimo"/>
                <a:cs typeface="Arimo"/>
                <a:sym typeface="Arimo"/>
              </a:rPr>
              <a:t> adalah proses menganalisis data untuk menemukan pola, tren, dan wawasan yang berguna dalam pengambilan keputusan.</a:t>
            </a:r>
          </a:p>
        </p:txBody>
      </p:sp>
      <p:sp>
        <p:nvSpPr>
          <p:cNvPr name="TextBox 6" id="6"/>
          <p:cNvSpPr txBox="true"/>
          <p:nvPr/>
        </p:nvSpPr>
        <p:spPr>
          <a:xfrm rot="0">
            <a:off x="7537095" y="933450"/>
            <a:ext cx="10057653" cy="862225"/>
          </a:xfrm>
          <a:prstGeom prst="rect">
            <a:avLst/>
          </a:prstGeom>
        </p:spPr>
        <p:txBody>
          <a:bodyPr anchor="t" rtlCol="false" tIns="0" lIns="0" bIns="0" rIns="0">
            <a:spAutoFit/>
          </a:bodyPr>
          <a:lstStyle/>
          <a:p>
            <a:pPr algn="ctr">
              <a:lnSpc>
                <a:spcPts val="7075"/>
              </a:lnSpc>
              <a:spcBef>
                <a:spcPct val="0"/>
              </a:spcBef>
            </a:pPr>
            <a:r>
              <a:rPr lang="en-US" sz="5054">
                <a:solidFill>
                  <a:srgbClr val="F58D05"/>
                </a:solidFill>
                <a:latin typeface="League Spartan"/>
                <a:ea typeface="League Spartan"/>
                <a:cs typeface="League Spartan"/>
                <a:sym typeface="League Spartan"/>
              </a:rPr>
              <a:t>Basis Data dan Data Analytics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5790947" y="-2365717"/>
            <a:ext cx="17219666" cy="14026201"/>
          </a:xfrm>
          <a:custGeom>
            <a:avLst/>
            <a:gdLst/>
            <a:ahLst/>
            <a:cxnLst/>
            <a:rect r="r" b="b" t="t" l="l"/>
            <a:pathLst>
              <a:path h="14026201" w="17219666">
                <a:moveTo>
                  <a:pt x="0" y="14026201"/>
                </a:moveTo>
                <a:lnTo>
                  <a:pt x="17219666" y="14026201"/>
                </a:lnTo>
                <a:lnTo>
                  <a:pt x="17219666"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85502" y="4230106"/>
            <a:ext cx="6357427" cy="6056894"/>
          </a:xfrm>
          <a:custGeom>
            <a:avLst/>
            <a:gdLst/>
            <a:ahLst/>
            <a:cxnLst/>
            <a:rect r="r" b="b" t="t" l="l"/>
            <a:pathLst>
              <a:path h="6056894" w="6357427">
                <a:moveTo>
                  <a:pt x="0" y="0"/>
                </a:moveTo>
                <a:lnTo>
                  <a:pt x="6357427" y="0"/>
                </a:lnTo>
                <a:lnTo>
                  <a:pt x="6357427" y="6056894"/>
                </a:lnTo>
                <a:lnTo>
                  <a:pt x="0" y="60568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350597" y="532584"/>
            <a:ext cx="2221992" cy="4114800"/>
          </a:xfrm>
          <a:custGeom>
            <a:avLst/>
            <a:gdLst/>
            <a:ahLst/>
            <a:cxnLst/>
            <a:rect r="r" b="b" t="t" l="l"/>
            <a:pathLst>
              <a:path h="4114800" w="2221992">
                <a:moveTo>
                  <a:pt x="0" y="0"/>
                </a:moveTo>
                <a:lnTo>
                  <a:pt x="2221992" y="0"/>
                </a:lnTo>
                <a:lnTo>
                  <a:pt x="2221992"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28700" y="3713744"/>
            <a:ext cx="6513958" cy="2573762"/>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1</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952834" y="417069"/>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691846" y="3041015"/>
            <a:ext cx="11293458" cy="7055485"/>
          </a:xfrm>
          <a:prstGeom prst="rect">
            <a:avLst/>
          </a:prstGeom>
        </p:spPr>
        <p:txBody>
          <a:bodyPr anchor="t" rtlCol="false" tIns="0" lIns="0" bIns="0" rIns="0">
            <a:spAutoFit/>
          </a:bodyPr>
          <a:lstStyle/>
          <a:p>
            <a:pPr algn="just" marL="669291" indent="-334646" lvl="1">
              <a:lnSpc>
                <a:spcPts val="4340"/>
              </a:lnSpc>
              <a:buFont typeface="Arial"/>
              <a:buChar char="•"/>
            </a:pPr>
            <a:r>
              <a:rPr lang="en-US" sz="3100">
                <a:solidFill>
                  <a:srgbClr val="866255"/>
                </a:solidFill>
                <a:latin typeface="Arimo"/>
                <a:ea typeface="Arimo"/>
                <a:cs typeface="Arimo"/>
                <a:sym typeface="Arimo"/>
              </a:rPr>
              <a:t>Pendahuluan → Mengapa pengelolaan dan analisis data penting?</a:t>
            </a:r>
          </a:p>
          <a:p>
            <a:pPr algn="just" marL="669291" indent="-334646" lvl="1">
              <a:lnSpc>
                <a:spcPts val="4340"/>
              </a:lnSpc>
              <a:buFont typeface="Arial"/>
              <a:buChar char="•"/>
            </a:pPr>
            <a:r>
              <a:rPr lang="en-US" sz="3100">
                <a:solidFill>
                  <a:srgbClr val="866255"/>
                </a:solidFill>
                <a:latin typeface="Arimo"/>
                <a:ea typeface="Arimo"/>
                <a:cs typeface="Arimo"/>
                <a:sym typeface="Arimo"/>
              </a:rPr>
              <a:t>Identifikasi Masalah dalam Pengelolaan Data → Apa tantangan utama dalam menyimpan dan mengelola data?</a:t>
            </a:r>
          </a:p>
          <a:p>
            <a:pPr algn="just" marL="669291" indent="-334646" lvl="1">
              <a:lnSpc>
                <a:spcPts val="4340"/>
              </a:lnSpc>
              <a:buFont typeface="Arial"/>
              <a:buChar char="•"/>
            </a:pPr>
            <a:r>
              <a:rPr lang="en-US" sz="3100">
                <a:solidFill>
                  <a:srgbClr val="866255"/>
                </a:solidFill>
                <a:latin typeface="Arimo"/>
                <a:ea typeface="Arimo"/>
                <a:cs typeface="Arimo"/>
                <a:sym typeface="Arimo"/>
              </a:rPr>
              <a:t>Identifikasi Masalah dalam Analisis Data → Mengapa data yang tidak dianalisis tidak memberikan manfaat optimal?</a:t>
            </a:r>
          </a:p>
          <a:p>
            <a:pPr algn="just" marL="669291" indent="-334646" lvl="1">
              <a:lnSpc>
                <a:spcPts val="4340"/>
              </a:lnSpc>
              <a:buFont typeface="Arial"/>
              <a:buChar char="•"/>
            </a:pPr>
            <a:r>
              <a:rPr lang="en-US" sz="3100">
                <a:solidFill>
                  <a:srgbClr val="866255"/>
                </a:solidFill>
                <a:latin typeface="Arimo"/>
                <a:ea typeface="Arimo"/>
                <a:cs typeface="Arimo"/>
                <a:sym typeface="Arimo"/>
              </a:rPr>
              <a:t>Solusi dan Peran Teknologi → Apa teknologi yang dapat membantu mengatasi tantangan tersebut?</a:t>
            </a:r>
          </a:p>
          <a:p>
            <a:pPr algn="just" marL="669291" indent="-334646" lvl="1">
              <a:lnSpc>
                <a:spcPts val="4340"/>
              </a:lnSpc>
              <a:buFont typeface="Arial"/>
              <a:buChar char="•"/>
            </a:pPr>
            <a:r>
              <a:rPr lang="en-US" sz="3100">
                <a:solidFill>
                  <a:srgbClr val="866255"/>
                </a:solidFill>
                <a:latin typeface="Arimo"/>
                <a:ea typeface="Arimo"/>
                <a:cs typeface="Arimo"/>
                <a:sym typeface="Arimo"/>
              </a:rPr>
              <a:t>Tujuan Penelitian → Apa yang ingin dicapai dalam penelitian ini?</a:t>
            </a:r>
          </a:p>
          <a:p>
            <a:pPr algn="just" marL="669291" indent="-334646" lvl="1">
              <a:lnSpc>
                <a:spcPts val="4340"/>
              </a:lnSpc>
              <a:buFont typeface="Arial"/>
              <a:buChar char="•"/>
            </a:pPr>
            <a:r>
              <a:rPr lang="en-US" sz="3100">
                <a:solidFill>
                  <a:srgbClr val="866255"/>
                </a:solidFill>
                <a:latin typeface="Arimo"/>
                <a:ea typeface="Arimo"/>
                <a:cs typeface="Arimo"/>
                <a:sym typeface="Arimo"/>
              </a:rPr>
              <a:t>Manfaat Penelitian → Bagaimana penelitian ini memberikan kontribusi nyata?</a:t>
            </a:r>
          </a:p>
          <a:p>
            <a:pPr algn="just" marL="669291" indent="-334646" lvl="1">
              <a:lnSpc>
                <a:spcPts val="4340"/>
              </a:lnSpc>
              <a:spcBef>
                <a:spcPct val="0"/>
              </a:spcBef>
              <a:buFont typeface="Arial"/>
              <a:buChar char="•"/>
            </a:pPr>
            <a:r>
              <a:rPr lang="en-US" sz="3100">
                <a:solidFill>
                  <a:srgbClr val="866255"/>
                </a:solidFill>
                <a:latin typeface="Arimo"/>
                <a:ea typeface="Arimo"/>
                <a:cs typeface="Arimo"/>
                <a:sym typeface="Arimo"/>
              </a:rPr>
              <a:t>Kesimpulan (Opsional) → Merangkum urgensi penelitian ini.</a:t>
            </a:r>
          </a:p>
        </p:txBody>
      </p:sp>
      <p:sp>
        <p:nvSpPr>
          <p:cNvPr name="Freeform 4" id="4"/>
          <p:cNvSpPr/>
          <p:nvPr/>
        </p:nvSpPr>
        <p:spPr>
          <a:xfrm flipH="false" flipV="false" rot="0">
            <a:off x="457653" y="3660851"/>
            <a:ext cx="5275129" cy="3769319"/>
          </a:xfrm>
          <a:custGeom>
            <a:avLst/>
            <a:gdLst/>
            <a:ahLst/>
            <a:cxnLst/>
            <a:rect r="r" b="b" t="t" l="l"/>
            <a:pathLst>
              <a:path h="3769319" w="5275129">
                <a:moveTo>
                  <a:pt x="0" y="0"/>
                </a:moveTo>
                <a:lnTo>
                  <a:pt x="5275128" y="0"/>
                </a:lnTo>
                <a:lnTo>
                  <a:pt x="5275128" y="3769319"/>
                </a:lnTo>
                <a:lnTo>
                  <a:pt x="0" y="37693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005970" y="231287"/>
            <a:ext cx="10057653" cy="1036851"/>
          </a:xfrm>
          <a:prstGeom prst="rect">
            <a:avLst/>
          </a:prstGeom>
        </p:spPr>
        <p:txBody>
          <a:bodyPr anchor="t" rtlCol="false" tIns="0" lIns="0" bIns="0" rIns="0">
            <a:spAutoFit/>
          </a:bodyPr>
          <a:lstStyle/>
          <a:p>
            <a:pPr algn="ctr">
              <a:lnSpc>
                <a:spcPts val="8475"/>
              </a:lnSpc>
              <a:spcBef>
                <a:spcPct val="0"/>
              </a:spcBef>
            </a:pPr>
            <a:r>
              <a:rPr lang="en-US" sz="6054">
                <a:solidFill>
                  <a:srgbClr val="F58D05"/>
                </a:solidFill>
                <a:latin typeface="League Spartan"/>
                <a:ea typeface="League Spartan"/>
                <a:cs typeface="League Spartan"/>
                <a:sym typeface="League Spartan"/>
              </a:rPr>
              <a:t>LATAR BELAKANG</a:t>
            </a:r>
          </a:p>
        </p:txBody>
      </p:sp>
      <p:sp>
        <p:nvSpPr>
          <p:cNvPr name="TextBox 6" id="6"/>
          <p:cNvSpPr txBox="true"/>
          <p:nvPr/>
        </p:nvSpPr>
        <p:spPr>
          <a:xfrm rot="0">
            <a:off x="1827246" y="1172887"/>
            <a:ext cx="16268523" cy="1754728"/>
          </a:xfrm>
          <a:prstGeom prst="rect">
            <a:avLst/>
          </a:prstGeom>
        </p:spPr>
        <p:txBody>
          <a:bodyPr anchor="t" rtlCol="false" tIns="0" lIns="0" bIns="0" rIns="0">
            <a:spAutoFit/>
          </a:bodyPr>
          <a:lstStyle/>
          <a:p>
            <a:pPr algn="ctr">
              <a:lnSpc>
                <a:spcPts val="4619"/>
              </a:lnSpc>
              <a:spcBef>
                <a:spcPct val="0"/>
              </a:spcBef>
            </a:pPr>
            <a:r>
              <a:rPr lang="en-US" sz="3299">
                <a:solidFill>
                  <a:srgbClr val="866255"/>
                </a:solidFill>
                <a:latin typeface="Arimo"/>
                <a:ea typeface="Arimo"/>
                <a:cs typeface="Arimo"/>
                <a:sym typeface="Arimo"/>
              </a:rPr>
              <a:t>Latar belakang dalam penulisan ilmiah menjelaskan </a:t>
            </a:r>
            <a:r>
              <a:rPr lang="en-US" b="true" sz="3299">
                <a:solidFill>
                  <a:srgbClr val="866255"/>
                </a:solidFill>
                <a:latin typeface="Arimo Bold"/>
                <a:ea typeface="Arimo Bold"/>
                <a:cs typeface="Arimo Bold"/>
                <a:sym typeface="Arimo Bold"/>
              </a:rPr>
              <a:t>mengapa topik ini penting untuk dibahas</a:t>
            </a:r>
            <a:r>
              <a:rPr lang="en-US" sz="3299">
                <a:solidFill>
                  <a:srgbClr val="866255"/>
                </a:solidFill>
                <a:latin typeface="Arimo"/>
                <a:ea typeface="Arimo"/>
                <a:cs typeface="Arimo"/>
                <a:sym typeface="Arimo"/>
              </a:rPr>
              <a:t>, </a:t>
            </a:r>
            <a:r>
              <a:rPr lang="en-US" b="true" sz="3299">
                <a:solidFill>
                  <a:srgbClr val="866255"/>
                </a:solidFill>
                <a:latin typeface="Arimo Bold"/>
                <a:ea typeface="Arimo Bold"/>
                <a:cs typeface="Arimo Bold"/>
                <a:sym typeface="Arimo Bold"/>
              </a:rPr>
              <a:t>apa permasalahan utama, dan bagaimana solusi yang ditawarkan</a:t>
            </a:r>
            <a:r>
              <a:rPr lang="en-US" sz="3299">
                <a:solidFill>
                  <a:srgbClr val="866255"/>
                </a:solidFill>
                <a:latin typeface="Arimo"/>
                <a:ea typeface="Arimo"/>
                <a:cs typeface="Arimo"/>
                <a:sym typeface="Arimo"/>
              </a:rPr>
              <a:t>. Berikut detail outline untuk masing-masing paragraf dalam latar belakang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952834" y="417069"/>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085987" y="2511048"/>
            <a:ext cx="10575435" cy="6747252"/>
          </a:xfrm>
          <a:prstGeom prst="rect">
            <a:avLst/>
          </a:prstGeom>
        </p:spPr>
        <p:txBody>
          <a:bodyPr anchor="t" rtlCol="false" tIns="0" lIns="0" bIns="0" rIns="0">
            <a:spAutoFit/>
          </a:bodyPr>
          <a:lstStyle/>
          <a:p>
            <a:pPr algn="just">
              <a:lnSpc>
                <a:spcPts val="4479"/>
              </a:lnSpc>
            </a:pPr>
            <a:r>
              <a:rPr lang="en-US" sz="3199" b="true">
                <a:solidFill>
                  <a:srgbClr val="866255"/>
                </a:solidFill>
                <a:latin typeface="Arimo Bold"/>
                <a:ea typeface="Arimo Bold"/>
                <a:cs typeface="Arimo Bold"/>
                <a:sym typeface="Arimo Bold"/>
              </a:rPr>
              <a:t>Paragraf 1:</a:t>
            </a:r>
            <a:r>
              <a:rPr lang="en-US" sz="3199">
                <a:solidFill>
                  <a:srgbClr val="866255"/>
                </a:solidFill>
                <a:latin typeface="Arimo"/>
                <a:ea typeface="Arimo"/>
                <a:cs typeface="Arimo"/>
                <a:sym typeface="Arimo"/>
              </a:rPr>
              <a:t> Jelaskan bagaimana data menjadi salah satu aset paling berharga di era modern. Sebutkan jumlah data yang terus meningkat dan pentingnya pengelolaan serta analisis data dalam berbagai bidang, terutama di dunia akademik dan bisnis. Jika menyebutkan data-data berikan juga citasi yang mendukung data tersebut.</a:t>
            </a:r>
          </a:p>
          <a:p>
            <a:pPr algn="just">
              <a:lnSpc>
                <a:spcPts val="4479"/>
              </a:lnSpc>
            </a:pPr>
          </a:p>
          <a:p>
            <a:pPr algn="just">
              <a:lnSpc>
                <a:spcPts val="4479"/>
              </a:lnSpc>
              <a:spcBef>
                <a:spcPct val="0"/>
              </a:spcBef>
            </a:pPr>
            <a:r>
              <a:rPr lang="en-US" b="true" sz="3199">
                <a:solidFill>
                  <a:srgbClr val="866255"/>
                </a:solidFill>
                <a:latin typeface="Arimo Bold"/>
                <a:ea typeface="Arimo Bold"/>
                <a:cs typeface="Arimo Bold"/>
                <a:sym typeface="Arimo Bold"/>
              </a:rPr>
              <a:t>Paragraf 2: Identifikasi Permasalahan dalam Pengelolaan Data</a:t>
            </a:r>
            <a:r>
              <a:rPr lang="en-US" sz="3199">
                <a:solidFill>
                  <a:srgbClr val="866255"/>
                </a:solidFill>
                <a:latin typeface="Arimo"/>
                <a:ea typeface="Arimo"/>
                <a:cs typeface="Arimo"/>
                <a:sym typeface="Arimo"/>
              </a:rPr>
              <a:t>, Jelaskan tantangan utama dalam pengelolaan data, seperti data yang tidak terstruktur, redundansi, kehilangan data, dan keterbatasan kapasitas penyimpanan.</a:t>
            </a:r>
          </a:p>
        </p:txBody>
      </p:sp>
      <p:sp>
        <p:nvSpPr>
          <p:cNvPr name="Freeform 4" id="4"/>
          <p:cNvSpPr/>
          <p:nvPr/>
        </p:nvSpPr>
        <p:spPr>
          <a:xfrm flipH="false" flipV="false" rot="0">
            <a:off x="457653" y="3660851"/>
            <a:ext cx="5275129" cy="3769319"/>
          </a:xfrm>
          <a:custGeom>
            <a:avLst/>
            <a:gdLst/>
            <a:ahLst/>
            <a:cxnLst/>
            <a:rect r="r" b="b" t="t" l="l"/>
            <a:pathLst>
              <a:path h="3769319" w="5275129">
                <a:moveTo>
                  <a:pt x="0" y="0"/>
                </a:moveTo>
                <a:lnTo>
                  <a:pt x="5275128" y="0"/>
                </a:lnTo>
                <a:lnTo>
                  <a:pt x="5275128" y="3769319"/>
                </a:lnTo>
                <a:lnTo>
                  <a:pt x="0" y="37693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6866200" y="147425"/>
            <a:ext cx="10728548" cy="1036851"/>
          </a:xfrm>
          <a:prstGeom prst="rect">
            <a:avLst/>
          </a:prstGeom>
        </p:spPr>
        <p:txBody>
          <a:bodyPr anchor="t" rtlCol="false" tIns="0" lIns="0" bIns="0" rIns="0">
            <a:spAutoFit/>
          </a:bodyPr>
          <a:lstStyle/>
          <a:p>
            <a:pPr algn="ctr">
              <a:lnSpc>
                <a:spcPts val="8475"/>
              </a:lnSpc>
              <a:spcBef>
                <a:spcPct val="0"/>
              </a:spcBef>
            </a:pPr>
            <a:r>
              <a:rPr lang="en-US" sz="6054">
                <a:solidFill>
                  <a:srgbClr val="F58D05"/>
                </a:solidFill>
                <a:latin typeface="League Spartan"/>
                <a:ea typeface="League Spartan"/>
                <a:cs typeface="League Spartan"/>
                <a:sym typeface="League Spartan"/>
              </a:rPr>
              <a:t>LATAR BELAKANG (Lanj...)</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952834" y="417069"/>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445664" y="1490260"/>
            <a:ext cx="11514388" cy="8432954"/>
          </a:xfrm>
          <a:prstGeom prst="rect">
            <a:avLst/>
          </a:prstGeom>
        </p:spPr>
        <p:txBody>
          <a:bodyPr anchor="t" rtlCol="false" tIns="0" lIns="0" bIns="0" rIns="0">
            <a:spAutoFit/>
          </a:bodyPr>
          <a:lstStyle/>
          <a:p>
            <a:pPr algn="just">
              <a:lnSpc>
                <a:spcPts val="4480"/>
              </a:lnSpc>
            </a:pPr>
            <a:r>
              <a:rPr lang="en-US" sz="3200" b="true">
                <a:solidFill>
                  <a:srgbClr val="866255"/>
                </a:solidFill>
                <a:latin typeface="Arimo Bold"/>
                <a:ea typeface="Arimo Bold"/>
                <a:cs typeface="Arimo Bold"/>
                <a:sym typeface="Arimo Bold"/>
              </a:rPr>
              <a:t>Paragraf 3: Identifikasi Permasalahan dalam Analisis Data, </a:t>
            </a:r>
            <a:r>
              <a:rPr lang="en-US" sz="3200">
                <a:solidFill>
                  <a:srgbClr val="866255"/>
                </a:solidFill>
                <a:latin typeface="Arimo"/>
                <a:ea typeface="Arimo"/>
                <a:cs typeface="Arimo"/>
                <a:sym typeface="Arimo"/>
              </a:rPr>
              <a:t>Menjelaskan bahwa data yang dikelola dengan baik tidak cukup tanpa analisis yang tepat untuk menghasilkan wawasan yang berguna. Identifikasi tantangan dalam analisis data, seperti kurangnya pemanfaatan teknologi Machine Learning, atau kurangnya SDM yang mampu mengolah data dengan baik.</a:t>
            </a:r>
          </a:p>
          <a:p>
            <a:pPr algn="just">
              <a:lnSpc>
                <a:spcPts val="4480"/>
              </a:lnSpc>
            </a:pPr>
            <a:r>
              <a:rPr lang="en-US" sz="3200">
                <a:solidFill>
                  <a:srgbClr val="866255"/>
                </a:solidFill>
                <a:latin typeface="Arimo"/>
                <a:ea typeface="Arimo"/>
                <a:cs typeface="Arimo"/>
                <a:sym typeface="Arimo"/>
              </a:rPr>
              <a:t>P</a:t>
            </a:r>
            <a:r>
              <a:rPr lang="en-US" sz="3200" b="true">
                <a:solidFill>
                  <a:srgbClr val="866255"/>
                </a:solidFill>
                <a:latin typeface="Arimo Bold"/>
                <a:ea typeface="Arimo Bold"/>
                <a:cs typeface="Arimo Bold"/>
                <a:sym typeface="Arimo Bold"/>
              </a:rPr>
              <a:t>aragraf 4: Solusi dan Peran Teknologi dalam Pengelolaan dan Analisis Data,</a:t>
            </a:r>
            <a:r>
              <a:rPr lang="en-US" sz="3200">
                <a:solidFill>
                  <a:srgbClr val="866255"/>
                </a:solidFill>
                <a:latin typeface="Arimo"/>
                <a:ea typeface="Arimo"/>
                <a:cs typeface="Arimo"/>
                <a:sym typeface="Arimo"/>
              </a:rPr>
              <a:t> Perkenalkan beberapa solusi teknologi yang dapat digunakan untuk mengatasi permasalahan di atas, seperti Database Management System (DBMS), Data Warehouse, Big Data Analytics, dan Business Intelligence (BI). Serta sebutkan manfaat dari metode Machine Learning dan Artificial Intelligence dalam analisis data.</a:t>
            </a:r>
          </a:p>
          <a:p>
            <a:pPr algn="just">
              <a:lnSpc>
                <a:spcPts val="4480"/>
              </a:lnSpc>
              <a:spcBef>
                <a:spcPct val="0"/>
              </a:spcBef>
            </a:pPr>
            <a:r>
              <a:rPr lang="en-US" b="true" sz="3200">
                <a:solidFill>
                  <a:srgbClr val="866255"/>
                </a:solidFill>
                <a:latin typeface="Arimo Bold"/>
                <a:ea typeface="Arimo Bold"/>
                <a:cs typeface="Arimo Bold"/>
                <a:sym typeface="Arimo Bold"/>
              </a:rPr>
              <a:t>Paragraf 5: Tujuan Penelitian,</a:t>
            </a:r>
            <a:r>
              <a:rPr lang="en-US" sz="3200">
                <a:solidFill>
                  <a:srgbClr val="866255"/>
                </a:solidFill>
                <a:latin typeface="Arimo"/>
                <a:ea typeface="Arimo"/>
                <a:cs typeface="Arimo"/>
                <a:sym typeface="Arimo"/>
              </a:rPr>
              <a:t> Jelaskan tujuan utama penelitian ini.</a:t>
            </a:r>
          </a:p>
        </p:txBody>
      </p:sp>
      <p:sp>
        <p:nvSpPr>
          <p:cNvPr name="Freeform 4" id="4"/>
          <p:cNvSpPr/>
          <p:nvPr/>
        </p:nvSpPr>
        <p:spPr>
          <a:xfrm flipH="false" flipV="false" rot="0">
            <a:off x="457653" y="3660851"/>
            <a:ext cx="5275129" cy="3769319"/>
          </a:xfrm>
          <a:custGeom>
            <a:avLst/>
            <a:gdLst/>
            <a:ahLst/>
            <a:cxnLst/>
            <a:rect r="r" b="b" t="t" l="l"/>
            <a:pathLst>
              <a:path h="3769319" w="5275129">
                <a:moveTo>
                  <a:pt x="0" y="0"/>
                </a:moveTo>
                <a:lnTo>
                  <a:pt x="5275128" y="0"/>
                </a:lnTo>
                <a:lnTo>
                  <a:pt x="5275128" y="3769319"/>
                </a:lnTo>
                <a:lnTo>
                  <a:pt x="0" y="37693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6866200" y="147425"/>
            <a:ext cx="10728548" cy="1036851"/>
          </a:xfrm>
          <a:prstGeom prst="rect">
            <a:avLst/>
          </a:prstGeom>
        </p:spPr>
        <p:txBody>
          <a:bodyPr anchor="t" rtlCol="false" tIns="0" lIns="0" bIns="0" rIns="0">
            <a:spAutoFit/>
          </a:bodyPr>
          <a:lstStyle/>
          <a:p>
            <a:pPr algn="ctr">
              <a:lnSpc>
                <a:spcPts val="8475"/>
              </a:lnSpc>
              <a:spcBef>
                <a:spcPct val="0"/>
              </a:spcBef>
            </a:pPr>
            <a:r>
              <a:rPr lang="en-US" sz="6054">
                <a:solidFill>
                  <a:srgbClr val="F58D05"/>
                </a:solidFill>
                <a:latin typeface="League Spartan"/>
                <a:ea typeface="League Spartan"/>
                <a:cs typeface="League Spartan"/>
                <a:sym typeface="League Spartan"/>
              </a:rPr>
              <a:t>LATAR BELAKANG (Lanj...)</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35787" y="885825"/>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Ruang Lingkup</a:t>
            </a:r>
          </a:p>
        </p:txBody>
      </p:sp>
      <p:sp>
        <p:nvSpPr>
          <p:cNvPr name="Freeform 3" id="3"/>
          <p:cNvSpPr/>
          <p:nvPr/>
        </p:nvSpPr>
        <p:spPr>
          <a:xfrm flipH="false" flipV="true" rot="-1449686">
            <a:off x="-8998541" y="-12611241"/>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449686">
            <a:off x="13620629" y="-8038281"/>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814830" y="547680"/>
            <a:ext cx="1954659" cy="2735528"/>
          </a:xfrm>
          <a:custGeom>
            <a:avLst/>
            <a:gdLst/>
            <a:ahLst/>
            <a:cxnLst/>
            <a:rect r="r" b="b" t="t" l="l"/>
            <a:pathLst>
              <a:path h="2735528" w="1954659">
                <a:moveTo>
                  <a:pt x="0" y="0"/>
                </a:moveTo>
                <a:lnTo>
                  <a:pt x="1954659" y="0"/>
                </a:lnTo>
                <a:lnTo>
                  <a:pt x="1954659" y="2735529"/>
                </a:lnTo>
                <a:lnTo>
                  <a:pt x="0" y="27355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4534837" y="2546277"/>
            <a:ext cx="1233504" cy="930985"/>
            <a:chOff x="0" y="0"/>
            <a:chExt cx="324873" cy="245198"/>
          </a:xfrm>
        </p:grpSpPr>
        <p:sp>
          <p:nvSpPr>
            <p:cNvPr name="Freeform 7" id="7"/>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3BBC1"/>
            </a:solidFill>
          </p:spPr>
        </p:sp>
        <p:sp>
          <p:nvSpPr>
            <p:cNvPr name="TextBox 8" id="8"/>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9" id="9"/>
          <p:cNvGrpSpPr/>
          <p:nvPr/>
        </p:nvGrpSpPr>
        <p:grpSpPr>
          <a:xfrm rot="0">
            <a:off x="11873688" y="5731700"/>
            <a:ext cx="1233504" cy="930985"/>
            <a:chOff x="0" y="0"/>
            <a:chExt cx="324873" cy="245198"/>
          </a:xfrm>
        </p:grpSpPr>
        <p:sp>
          <p:nvSpPr>
            <p:cNvPr name="Freeform 10" id="10"/>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3BBC1"/>
            </a:solidFill>
          </p:spPr>
        </p:sp>
        <p:sp>
          <p:nvSpPr>
            <p:cNvPr name="TextBox 11" id="11"/>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sp>
        <p:nvSpPr>
          <p:cNvPr name="Freeform 12" id="12"/>
          <p:cNvSpPr/>
          <p:nvPr/>
        </p:nvSpPr>
        <p:spPr>
          <a:xfrm flipH="true" flipV="false" rot="0">
            <a:off x="343859" y="6391913"/>
            <a:ext cx="4807729" cy="4114800"/>
          </a:xfrm>
          <a:custGeom>
            <a:avLst/>
            <a:gdLst/>
            <a:ahLst/>
            <a:cxnLst/>
            <a:rect r="r" b="b" t="t" l="l"/>
            <a:pathLst>
              <a:path h="4114800" w="4807729">
                <a:moveTo>
                  <a:pt x="4807729" y="0"/>
                </a:moveTo>
                <a:lnTo>
                  <a:pt x="0" y="0"/>
                </a:lnTo>
                <a:lnTo>
                  <a:pt x="0" y="4114800"/>
                </a:lnTo>
                <a:lnTo>
                  <a:pt x="4807729" y="4114800"/>
                </a:lnTo>
                <a:lnTo>
                  <a:pt x="480772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1028700" y="3401063"/>
            <a:ext cx="9586240" cy="1599977"/>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Permasalahan utama yang ingin diselesaikan, misalnya bagaimana pengelolaan dan analisis data dapat meningkatkan efisiensi dalam berbagai bidang.</a:t>
            </a:r>
          </a:p>
        </p:txBody>
      </p:sp>
      <p:sp>
        <p:nvSpPr>
          <p:cNvPr name="TextBox 14" id="14"/>
          <p:cNvSpPr txBox="true"/>
          <p:nvPr/>
        </p:nvSpPr>
        <p:spPr>
          <a:xfrm rot="0">
            <a:off x="7697319" y="6586486"/>
            <a:ext cx="9586240" cy="2133302"/>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biasanya dengan memberikan batasan yang jelas bagian mana dari persoalan yang dikaji yang menggambarkan rumusan konkrit dari masalah utama yang akan diteliti.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717282">
            <a:off x="-8992797" y="7931190"/>
            <a:ext cx="17219666" cy="14026201"/>
          </a:xfrm>
          <a:custGeom>
            <a:avLst/>
            <a:gdLst/>
            <a:ahLst/>
            <a:cxnLst/>
            <a:rect r="r" b="b" t="t" l="l"/>
            <a:pathLst>
              <a:path h="14026201" w="17219666">
                <a:moveTo>
                  <a:pt x="0" y="14026201"/>
                </a:moveTo>
                <a:lnTo>
                  <a:pt x="17219667" y="14026201"/>
                </a:lnTo>
                <a:lnTo>
                  <a:pt x="17219667"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21856" y="2833010"/>
            <a:ext cx="1233504" cy="930985"/>
            <a:chOff x="0" y="0"/>
            <a:chExt cx="324873" cy="245198"/>
          </a:xfrm>
        </p:grpSpPr>
        <p:sp>
          <p:nvSpPr>
            <p:cNvPr name="Freeform 4" id="4"/>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26B6D"/>
            </a:solidFill>
          </p:spPr>
        </p:sp>
        <p:sp>
          <p:nvSpPr>
            <p:cNvPr name="TextBox 5" id="5"/>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6" id="6"/>
          <p:cNvGrpSpPr/>
          <p:nvPr/>
        </p:nvGrpSpPr>
        <p:grpSpPr>
          <a:xfrm rot="0">
            <a:off x="11306970" y="2833010"/>
            <a:ext cx="1233504" cy="930985"/>
            <a:chOff x="0" y="0"/>
            <a:chExt cx="324873" cy="245198"/>
          </a:xfrm>
        </p:grpSpPr>
        <p:sp>
          <p:nvSpPr>
            <p:cNvPr name="Freeform 7" id="7"/>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F26B6D"/>
            </a:solidFill>
          </p:spPr>
        </p:sp>
        <p:sp>
          <p:nvSpPr>
            <p:cNvPr name="TextBox 8" id="8"/>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sp>
        <p:nvSpPr>
          <p:cNvPr name="Freeform 9" id="9"/>
          <p:cNvSpPr/>
          <p:nvPr/>
        </p:nvSpPr>
        <p:spPr>
          <a:xfrm flipH="false" flipV="false" rot="0">
            <a:off x="12943053" y="3223583"/>
            <a:ext cx="5344947" cy="7063417"/>
          </a:xfrm>
          <a:custGeom>
            <a:avLst/>
            <a:gdLst/>
            <a:ahLst/>
            <a:cxnLst/>
            <a:rect r="r" b="b" t="t" l="l"/>
            <a:pathLst>
              <a:path h="7063417" w="5344947">
                <a:moveTo>
                  <a:pt x="0" y="0"/>
                </a:moveTo>
                <a:lnTo>
                  <a:pt x="5344947" y="0"/>
                </a:lnTo>
                <a:lnTo>
                  <a:pt x="5344947" y="7063417"/>
                </a:lnTo>
                <a:lnTo>
                  <a:pt x="0" y="70634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3535787" y="885825"/>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Tujuan Penelitian</a:t>
            </a:r>
          </a:p>
        </p:txBody>
      </p:sp>
      <p:sp>
        <p:nvSpPr>
          <p:cNvPr name="TextBox 11" id="11"/>
          <p:cNvSpPr txBox="true"/>
          <p:nvPr/>
        </p:nvSpPr>
        <p:spPr>
          <a:xfrm rot="0">
            <a:off x="1028700" y="3881772"/>
            <a:ext cx="6253320" cy="2133302"/>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Menjelaskan tujuan dari penelitian ini, seperti memahami metode terbaik dalam pengelolaan dan analisis data.</a:t>
            </a:r>
          </a:p>
        </p:txBody>
      </p:sp>
      <p:sp>
        <p:nvSpPr>
          <p:cNvPr name="TextBox 12" id="12"/>
          <p:cNvSpPr txBox="true"/>
          <p:nvPr/>
        </p:nvSpPr>
        <p:spPr>
          <a:xfrm rot="0">
            <a:off x="8797062" y="3881772"/>
            <a:ext cx="6253320" cy="3199954"/>
          </a:xfrm>
          <a:prstGeom prst="rect">
            <a:avLst/>
          </a:prstGeom>
        </p:spPr>
        <p:txBody>
          <a:bodyPr anchor="t" rtlCol="false" tIns="0" lIns="0" bIns="0" rIns="0">
            <a:spAutoFit/>
          </a:bodyPr>
          <a:lstStyle/>
          <a:p>
            <a:pPr algn="just">
              <a:lnSpc>
                <a:spcPts val="4200"/>
              </a:lnSpc>
            </a:pPr>
            <a:r>
              <a:rPr lang="en-US" sz="3000">
                <a:solidFill>
                  <a:srgbClr val="866255"/>
                </a:solidFill>
                <a:latin typeface="Arimo"/>
                <a:ea typeface="Arimo"/>
                <a:cs typeface="Arimo"/>
                <a:sym typeface="Arimo"/>
              </a:rPr>
              <a:t>Menjelaskan hasil yang diharapkan dari penelitian ini dengan</a:t>
            </a:r>
          </a:p>
          <a:p>
            <a:pPr algn="just">
              <a:lnSpc>
                <a:spcPts val="4200"/>
              </a:lnSpc>
            </a:pPr>
            <a:r>
              <a:rPr lang="en-US" sz="3000">
                <a:solidFill>
                  <a:srgbClr val="866255"/>
                </a:solidFill>
                <a:latin typeface="Arimo"/>
                <a:ea typeface="Arimo"/>
                <a:cs typeface="Arimo"/>
                <a:sym typeface="Arimo"/>
              </a:rPr>
              <a:t>memberikan jawaban terhadap masalah yang diteliti (bukan tujuan</a:t>
            </a:r>
          </a:p>
          <a:p>
            <a:pPr algn="just">
              <a:lnSpc>
                <a:spcPts val="4200"/>
              </a:lnSpc>
              <a:spcBef>
                <a:spcPct val="0"/>
              </a:spcBef>
            </a:pPr>
            <a:r>
              <a:rPr lang="en-US" sz="3000">
                <a:solidFill>
                  <a:srgbClr val="866255"/>
                </a:solidFill>
                <a:latin typeface="Arimo"/>
                <a:ea typeface="Arimo"/>
                <a:cs typeface="Arimo"/>
                <a:sym typeface="Arimo"/>
              </a:rPr>
              <a:t>penulisan), yang akan tertulis pada simpulan.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21856" y="2833010"/>
            <a:ext cx="1233504" cy="930985"/>
            <a:chOff x="0" y="0"/>
            <a:chExt cx="324873" cy="245198"/>
          </a:xfrm>
        </p:grpSpPr>
        <p:sp>
          <p:nvSpPr>
            <p:cNvPr name="Freeform 3" id="3"/>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4" id="4"/>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5" id="5"/>
          <p:cNvGrpSpPr/>
          <p:nvPr/>
        </p:nvGrpSpPr>
        <p:grpSpPr>
          <a:xfrm rot="0">
            <a:off x="10542101" y="2812799"/>
            <a:ext cx="1233504" cy="930985"/>
            <a:chOff x="0" y="0"/>
            <a:chExt cx="324873" cy="245198"/>
          </a:xfrm>
        </p:grpSpPr>
        <p:sp>
          <p:nvSpPr>
            <p:cNvPr name="Freeform 6" id="6"/>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7" id="7"/>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sp>
        <p:nvSpPr>
          <p:cNvPr name="Freeform 8" id="8"/>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TextBox 10" id="10"/>
          <p:cNvSpPr txBox="true"/>
          <p:nvPr/>
        </p:nvSpPr>
        <p:spPr>
          <a:xfrm rot="0">
            <a:off x="1028700" y="4150243"/>
            <a:ext cx="6253320" cy="4799930"/>
          </a:xfrm>
          <a:prstGeom prst="rect">
            <a:avLst/>
          </a:prstGeom>
        </p:spPr>
        <p:txBody>
          <a:bodyPr anchor="t" rtlCol="false" tIns="0" lIns="0" bIns="0" rIns="0">
            <a:spAutoFit/>
          </a:bodyPr>
          <a:lstStyle/>
          <a:p>
            <a:pPr algn="just">
              <a:lnSpc>
                <a:spcPts val="4200"/>
              </a:lnSpc>
            </a:pPr>
            <a:r>
              <a:rPr lang="en-US" sz="3000">
                <a:solidFill>
                  <a:srgbClr val="866255"/>
                </a:solidFill>
                <a:latin typeface="Arimo"/>
                <a:ea typeface="Arimo"/>
                <a:cs typeface="Arimo"/>
                <a:sym typeface="Arimo"/>
              </a:rPr>
              <a:t>Bagian metode penelitian menjelaskan secara rinci setiap kegiatan/langkah-langkah penelitian yang dilakukan untuk menjawab tujuan yang sudah diuraikan. </a:t>
            </a:r>
          </a:p>
          <a:p>
            <a:pPr algn="just">
              <a:lnSpc>
                <a:spcPts val="4200"/>
              </a:lnSpc>
              <a:spcBef>
                <a:spcPct val="0"/>
              </a:spcBef>
            </a:pPr>
            <a:r>
              <a:rPr lang="en-US" sz="3000">
                <a:solidFill>
                  <a:srgbClr val="866255"/>
                </a:solidFill>
                <a:latin typeface="Arimo"/>
                <a:ea typeface="Arimo"/>
                <a:cs typeface="Arimo"/>
                <a:sym typeface="Arimo"/>
              </a:rPr>
              <a:t>Bagian ini juga menjelaskan peralatan dan bahan yang dibutuhkan dalam penelitian (jika ada).</a:t>
            </a:r>
          </a:p>
        </p:txBody>
      </p:sp>
      <p:sp>
        <p:nvSpPr>
          <p:cNvPr name="TextBox 11" id="11"/>
          <p:cNvSpPr txBox="true"/>
          <p:nvPr/>
        </p:nvSpPr>
        <p:spPr>
          <a:xfrm rot="0">
            <a:off x="7921728" y="4150243"/>
            <a:ext cx="6253320" cy="4266605"/>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Inti dari bagian ini adalah pembaca dapat melakukan ulang persis seperti peneliti lakukan berdasarkan uraian yang diberikan peneliti dalam bagian ini. Semua langkah-langkah yang dilakukan tidak boleh ada yang ditutupi, dan dijelaskan secara kronologis dan sistematis.</a:t>
            </a:r>
          </a:p>
        </p:txBody>
      </p:sp>
      <p:sp>
        <p:nvSpPr>
          <p:cNvPr name="TextBox 12" id="12"/>
          <p:cNvSpPr txBox="true"/>
          <p:nvPr/>
        </p:nvSpPr>
        <p:spPr>
          <a:xfrm rot="0">
            <a:off x="3188849" y="885825"/>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Metode Penelitian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346472" y="3469378"/>
            <a:ext cx="3941528" cy="6694986"/>
          </a:xfrm>
          <a:custGeom>
            <a:avLst/>
            <a:gdLst/>
            <a:ahLst/>
            <a:cxnLst/>
            <a:rect r="r" b="b" t="t" l="l"/>
            <a:pathLst>
              <a:path h="6694986" w="3941528">
                <a:moveTo>
                  <a:pt x="0" y="0"/>
                </a:moveTo>
                <a:lnTo>
                  <a:pt x="3941528" y="0"/>
                </a:lnTo>
                <a:lnTo>
                  <a:pt x="3941528" y="6694986"/>
                </a:lnTo>
                <a:lnTo>
                  <a:pt x="0" y="6694986"/>
                </a:lnTo>
                <a:lnTo>
                  <a:pt x="0" y="0"/>
                </a:lnTo>
                <a:close/>
              </a:path>
            </a:pathLst>
          </a:custGeom>
          <a:blipFill>
            <a:blip r:embed="rId4">
              <a:extLst>
                <a:ext uri="{96DAC541-7B7A-43D3-8B79-37D633B846F1}">
                  <asvg:svgBlip xmlns:asvg="http://schemas.microsoft.com/office/drawing/2016/SVG/main" r:embed="rId5"/>
                </a:ext>
              </a:extLst>
            </a:blip>
            <a:stretch>
              <a:fillRect l="-65225" t="0" r="0" b="0"/>
            </a:stretch>
          </a:blipFill>
        </p:spPr>
      </p:sp>
      <p:sp>
        <p:nvSpPr>
          <p:cNvPr name="Freeform 4" id="4"/>
          <p:cNvSpPr/>
          <p:nvPr/>
        </p:nvSpPr>
        <p:spPr>
          <a:xfrm flipH="false" flipV="false" rot="0">
            <a:off x="1576737" y="2948758"/>
            <a:ext cx="14202456" cy="6201611"/>
          </a:xfrm>
          <a:custGeom>
            <a:avLst/>
            <a:gdLst/>
            <a:ahLst/>
            <a:cxnLst/>
            <a:rect r="r" b="b" t="t" l="l"/>
            <a:pathLst>
              <a:path h="6201611" w="14202456">
                <a:moveTo>
                  <a:pt x="0" y="0"/>
                </a:moveTo>
                <a:lnTo>
                  <a:pt x="14202456" y="0"/>
                </a:lnTo>
                <a:lnTo>
                  <a:pt x="14202456" y="6201611"/>
                </a:lnTo>
                <a:lnTo>
                  <a:pt x="0" y="6201611"/>
                </a:lnTo>
                <a:lnTo>
                  <a:pt x="0" y="0"/>
                </a:lnTo>
                <a:close/>
              </a:path>
            </a:pathLst>
          </a:custGeom>
          <a:blipFill>
            <a:blip r:embed="rId6"/>
            <a:stretch>
              <a:fillRect l="0" t="0" r="0" b="0"/>
            </a:stretch>
          </a:blipFill>
        </p:spPr>
      </p:sp>
      <p:sp>
        <p:nvSpPr>
          <p:cNvPr name="TextBox 5" id="5"/>
          <p:cNvSpPr txBox="true"/>
          <p:nvPr/>
        </p:nvSpPr>
        <p:spPr>
          <a:xfrm rot="0">
            <a:off x="3188849" y="885825"/>
            <a:ext cx="11216426"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Metode Penelitian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3200924" y="-10886342"/>
            <a:ext cx="17219666" cy="14026201"/>
          </a:xfrm>
          <a:custGeom>
            <a:avLst/>
            <a:gdLst/>
            <a:ahLst/>
            <a:cxnLst/>
            <a:rect r="r" b="b" t="t" l="l"/>
            <a:pathLst>
              <a:path h="14026201" w="17219666">
                <a:moveTo>
                  <a:pt x="0" y="14026200"/>
                </a:moveTo>
                <a:lnTo>
                  <a:pt x="17219666" y="14026200"/>
                </a:lnTo>
                <a:lnTo>
                  <a:pt x="17219666" y="0"/>
                </a:lnTo>
                <a:lnTo>
                  <a:pt x="0" y="0"/>
                </a:lnTo>
                <a:lnTo>
                  <a:pt x="0" y="140262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405275" y="3743785"/>
            <a:ext cx="4385930" cy="4114800"/>
          </a:xfrm>
          <a:custGeom>
            <a:avLst/>
            <a:gdLst/>
            <a:ahLst/>
            <a:cxnLst/>
            <a:rect r="r" b="b" t="t" l="l"/>
            <a:pathLst>
              <a:path h="4114800" w="4385930">
                <a:moveTo>
                  <a:pt x="0" y="0"/>
                </a:moveTo>
                <a:lnTo>
                  <a:pt x="4385930" y="0"/>
                </a:lnTo>
                <a:lnTo>
                  <a:pt x="438593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258235" y="4922559"/>
            <a:ext cx="11227373" cy="5108970"/>
          </a:xfrm>
          <a:custGeom>
            <a:avLst/>
            <a:gdLst/>
            <a:ahLst/>
            <a:cxnLst/>
            <a:rect r="r" b="b" t="t" l="l"/>
            <a:pathLst>
              <a:path h="5108970" w="11227373">
                <a:moveTo>
                  <a:pt x="0" y="0"/>
                </a:moveTo>
                <a:lnTo>
                  <a:pt x="11227373" y="0"/>
                </a:lnTo>
                <a:lnTo>
                  <a:pt x="11227373" y="5108969"/>
                </a:lnTo>
                <a:lnTo>
                  <a:pt x="0" y="5108969"/>
                </a:lnTo>
                <a:lnTo>
                  <a:pt x="0" y="0"/>
                </a:lnTo>
                <a:close/>
              </a:path>
            </a:pathLst>
          </a:custGeom>
          <a:blipFill>
            <a:blip r:embed="rId6"/>
            <a:stretch>
              <a:fillRect l="0" t="0" r="0" b="0"/>
            </a:stretch>
          </a:blipFill>
        </p:spPr>
      </p:sp>
      <p:sp>
        <p:nvSpPr>
          <p:cNvPr name="TextBox 5" id="5"/>
          <p:cNvSpPr txBox="true"/>
          <p:nvPr/>
        </p:nvSpPr>
        <p:spPr>
          <a:xfrm rot="0">
            <a:off x="1194396" y="3027195"/>
            <a:ext cx="12936374" cy="1600088"/>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Memberikan gambaran umum dari bagian ke bagian dari isi Tulisan Ilmiah yang dituangkan dalam bentuk narasi, bukan dengan penomoran. Contoh Penulisannya sebagai berikut :</a:t>
            </a:r>
          </a:p>
        </p:txBody>
      </p:sp>
      <p:sp>
        <p:nvSpPr>
          <p:cNvPr name="TextBox 6" id="6"/>
          <p:cNvSpPr txBox="true"/>
          <p:nvPr/>
        </p:nvSpPr>
        <p:spPr>
          <a:xfrm rot="0">
            <a:off x="3188849" y="84106"/>
            <a:ext cx="11216426" cy="2728694"/>
          </a:xfrm>
          <a:prstGeom prst="rect">
            <a:avLst/>
          </a:prstGeom>
        </p:spPr>
        <p:txBody>
          <a:bodyPr anchor="t" rtlCol="false" tIns="0" lIns="0" bIns="0" rIns="0">
            <a:spAutoFit/>
          </a:bodyPr>
          <a:lstStyle/>
          <a:p>
            <a:pPr algn="ctr">
              <a:lnSpc>
                <a:spcPts val="10995"/>
              </a:lnSpc>
            </a:pPr>
            <a:r>
              <a:rPr lang="en-US" sz="7854">
                <a:solidFill>
                  <a:srgbClr val="F58D05"/>
                </a:solidFill>
                <a:latin typeface="League Spartan"/>
                <a:ea typeface="League Spartan"/>
                <a:cs typeface="League Spartan"/>
                <a:sym typeface="League Spartan"/>
              </a:rPr>
              <a:t>Sistematika</a:t>
            </a:r>
          </a:p>
          <a:p>
            <a:pPr algn="ctr">
              <a:lnSpc>
                <a:spcPts val="10995"/>
              </a:lnSpc>
              <a:spcBef>
                <a:spcPct val="0"/>
              </a:spcBef>
            </a:pPr>
            <a:r>
              <a:rPr lang="en-US" sz="7854">
                <a:solidFill>
                  <a:srgbClr val="F58D05"/>
                </a:solidFill>
                <a:latin typeface="League Spartan"/>
                <a:ea typeface="League Spartan"/>
                <a:cs typeface="League Spartan"/>
                <a:sym typeface="League Spartan"/>
              </a:rPr>
              <a:t>Tulisan Ilmiah</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5790947" y="-2365717"/>
            <a:ext cx="17219666" cy="14026201"/>
          </a:xfrm>
          <a:custGeom>
            <a:avLst/>
            <a:gdLst/>
            <a:ahLst/>
            <a:cxnLst/>
            <a:rect r="r" b="b" t="t" l="l"/>
            <a:pathLst>
              <a:path h="14026201" w="17219666">
                <a:moveTo>
                  <a:pt x="0" y="14026201"/>
                </a:moveTo>
                <a:lnTo>
                  <a:pt x="17219666" y="14026201"/>
                </a:lnTo>
                <a:lnTo>
                  <a:pt x="17219666" y="0"/>
                </a:lnTo>
                <a:lnTo>
                  <a:pt x="0" y="0"/>
                </a:lnTo>
                <a:lnTo>
                  <a:pt x="0" y="14026201"/>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775046" y="1348595"/>
            <a:ext cx="8427229" cy="8827061"/>
          </a:xfrm>
          <a:custGeom>
            <a:avLst/>
            <a:gdLst/>
            <a:ahLst/>
            <a:cxnLst/>
            <a:rect r="r" b="b" t="t" l="l"/>
            <a:pathLst>
              <a:path h="8827061" w="8427229">
                <a:moveTo>
                  <a:pt x="0" y="0"/>
                </a:moveTo>
                <a:lnTo>
                  <a:pt x="8427229" y="0"/>
                </a:lnTo>
                <a:lnTo>
                  <a:pt x="8427229" y="8827061"/>
                </a:lnTo>
                <a:lnTo>
                  <a:pt x="0" y="88270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713744"/>
            <a:ext cx="6513958" cy="2573762"/>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487888"/>
            <a:ext cx="14106288" cy="5333628"/>
          </a:xfrm>
          <a:prstGeom prst="rect">
            <a:avLst/>
          </a:prstGeom>
        </p:spPr>
        <p:txBody>
          <a:bodyPr anchor="t" rtlCol="false" tIns="0" lIns="0" bIns="0" rIns="0">
            <a:spAutoFit/>
          </a:bodyPr>
          <a:lstStyle/>
          <a:p>
            <a:pPr algn="just">
              <a:lnSpc>
                <a:spcPts val="4200"/>
              </a:lnSpc>
            </a:pPr>
            <a:r>
              <a:rPr lang="en-US" sz="3000">
                <a:solidFill>
                  <a:srgbClr val="866255"/>
                </a:solidFill>
                <a:latin typeface="Arimo"/>
                <a:ea typeface="Arimo"/>
                <a:cs typeface="Arimo"/>
                <a:sym typeface="Arimo"/>
              </a:rPr>
              <a:t>Menguraikan teori-teori yang menunjang tulisan/penelitian (definisi, pengertian, teori dan lain-lain), yang bisa diperkuat dengan menunjukkan hasil penelitian sebelumnya. Dapat pula ditambahkan alat bantu/ program penunjang yang digunakan untuk membantu penelitian, sebatas perkembangan terkini, kelebihan, keuntungan dan keterbatasan alat bantu. Alat bantu tersebut memiliki karakteristik yang sesuai untuk pencapaian solusi tujuan. Tidak perlu memasukkan manualnya. Diwajibkan untuk memasukkan minimal dua artikel (dari jurnal/ prosiding) yang mendukung. Sumber dari tinjauan pustaka ini tidak boleh berasal dari wikipedia, blogspot, wordpress atau jenis lainnya yang belum terjamin kebenarannya.</a:t>
            </a:r>
          </a:p>
          <a:p>
            <a:pPr algn="just">
              <a:lnSpc>
                <a:spcPts val="4200"/>
              </a:lnSpc>
              <a:spcBef>
                <a:spcPct val="0"/>
              </a:spcBef>
            </a:pPr>
            <a:r>
              <a:rPr lang="en-US" sz="3000">
                <a:solidFill>
                  <a:srgbClr val="866255"/>
                </a:solidFill>
                <a:latin typeface="Arimo"/>
                <a:ea typeface="Arimo"/>
                <a:cs typeface="Arimo"/>
                <a:sym typeface="Arimo"/>
              </a:rPr>
              <a:t>Menuliskan rujukan sesuai dengan format FIKTI.</a:t>
            </a:r>
          </a:p>
        </p:txBody>
      </p:sp>
      <p:sp>
        <p:nvSpPr>
          <p:cNvPr name="TextBox 3" id="3"/>
          <p:cNvSpPr txBox="true"/>
          <p:nvPr/>
        </p:nvSpPr>
        <p:spPr>
          <a:xfrm rot="0">
            <a:off x="3341249" y="1038225"/>
            <a:ext cx="11216426" cy="1336038"/>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Tinjauan Pustaka</a:t>
            </a:r>
          </a:p>
        </p:txBody>
      </p:sp>
      <p:sp>
        <p:nvSpPr>
          <p:cNvPr name="Freeform 4" id="4"/>
          <p:cNvSpPr/>
          <p:nvPr/>
        </p:nvSpPr>
        <p:spPr>
          <a:xfrm flipH="false" flipV="false" rot="0">
            <a:off x="12781661" y="3223583"/>
            <a:ext cx="5344947" cy="7063417"/>
          </a:xfrm>
          <a:custGeom>
            <a:avLst/>
            <a:gdLst/>
            <a:ahLst/>
            <a:cxnLst/>
            <a:rect r="r" b="b" t="t" l="l"/>
            <a:pathLst>
              <a:path h="7063417" w="5344947">
                <a:moveTo>
                  <a:pt x="0" y="0"/>
                </a:moveTo>
                <a:lnTo>
                  <a:pt x="5344947" y="0"/>
                </a:lnTo>
                <a:lnTo>
                  <a:pt x="5344947" y="7063417"/>
                </a:lnTo>
                <a:lnTo>
                  <a:pt x="0" y="70634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44356" y="8363680"/>
            <a:ext cx="1298012" cy="1789240"/>
          </a:xfrm>
          <a:custGeom>
            <a:avLst/>
            <a:gdLst/>
            <a:ahLst/>
            <a:cxnLst/>
            <a:rect r="r" b="b" t="t" l="l"/>
            <a:pathLst>
              <a:path h="1789240" w="1298012">
                <a:moveTo>
                  <a:pt x="0" y="0"/>
                </a:moveTo>
                <a:lnTo>
                  <a:pt x="1298013" y="0"/>
                </a:lnTo>
                <a:lnTo>
                  <a:pt x="1298013" y="1789240"/>
                </a:lnTo>
                <a:lnTo>
                  <a:pt x="0" y="1789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303750">
            <a:off x="1758147" y="8363680"/>
            <a:ext cx="1298012" cy="1789240"/>
          </a:xfrm>
          <a:custGeom>
            <a:avLst/>
            <a:gdLst/>
            <a:ahLst/>
            <a:cxnLst/>
            <a:rect r="r" b="b" t="t" l="l"/>
            <a:pathLst>
              <a:path h="1789240" w="1298012">
                <a:moveTo>
                  <a:pt x="0" y="0"/>
                </a:moveTo>
                <a:lnTo>
                  <a:pt x="1298012" y="0"/>
                </a:lnTo>
                <a:lnTo>
                  <a:pt x="1298012" y="1789240"/>
                </a:lnTo>
                <a:lnTo>
                  <a:pt x="0" y="17892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1449686">
            <a:off x="-13957928" y="-4847037"/>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44356" y="8363680"/>
            <a:ext cx="1298012" cy="1789240"/>
          </a:xfrm>
          <a:custGeom>
            <a:avLst/>
            <a:gdLst/>
            <a:ahLst/>
            <a:cxnLst/>
            <a:rect r="r" b="b" t="t" l="l"/>
            <a:pathLst>
              <a:path h="1789240" w="1298012">
                <a:moveTo>
                  <a:pt x="0" y="0"/>
                </a:moveTo>
                <a:lnTo>
                  <a:pt x="1298013" y="0"/>
                </a:lnTo>
                <a:lnTo>
                  <a:pt x="1298013" y="1789240"/>
                </a:lnTo>
                <a:lnTo>
                  <a:pt x="0" y="1789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03750">
            <a:off x="1758147" y="8363680"/>
            <a:ext cx="1298012" cy="1789240"/>
          </a:xfrm>
          <a:custGeom>
            <a:avLst/>
            <a:gdLst/>
            <a:ahLst/>
            <a:cxnLst/>
            <a:rect r="r" b="b" t="t" l="l"/>
            <a:pathLst>
              <a:path h="1789240" w="1298012">
                <a:moveTo>
                  <a:pt x="0" y="0"/>
                </a:moveTo>
                <a:lnTo>
                  <a:pt x="1298012" y="0"/>
                </a:lnTo>
                <a:lnTo>
                  <a:pt x="1298012" y="1789240"/>
                </a:lnTo>
                <a:lnTo>
                  <a:pt x="0" y="178924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449686">
            <a:off x="-13957928" y="-4847037"/>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181727" y="1181959"/>
            <a:ext cx="15366428" cy="8858712"/>
          </a:xfrm>
          <a:custGeom>
            <a:avLst/>
            <a:gdLst/>
            <a:ahLst/>
            <a:cxnLst/>
            <a:rect r="r" b="b" t="t" l="l"/>
            <a:pathLst>
              <a:path h="8858712" w="15366428">
                <a:moveTo>
                  <a:pt x="0" y="0"/>
                </a:moveTo>
                <a:lnTo>
                  <a:pt x="15366428" y="0"/>
                </a:lnTo>
                <a:lnTo>
                  <a:pt x="15366428" y="8858713"/>
                </a:lnTo>
                <a:lnTo>
                  <a:pt x="0" y="8858713"/>
                </a:lnTo>
                <a:lnTo>
                  <a:pt x="0" y="0"/>
                </a:lnTo>
                <a:close/>
              </a:path>
            </a:pathLst>
          </a:custGeom>
          <a:blipFill>
            <a:blip r:embed="rId6"/>
            <a:stretch>
              <a:fillRect l="0" t="-547" r="0" b="-547"/>
            </a:stretch>
          </a:blipFill>
        </p:spPr>
      </p:sp>
      <p:sp>
        <p:nvSpPr>
          <p:cNvPr name="TextBox 6" id="6"/>
          <p:cNvSpPr txBox="true"/>
          <p:nvPr/>
        </p:nvSpPr>
        <p:spPr>
          <a:xfrm rot="0">
            <a:off x="3535787" y="13103"/>
            <a:ext cx="11216426" cy="1168857"/>
          </a:xfrm>
          <a:prstGeom prst="rect">
            <a:avLst/>
          </a:prstGeom>
        </p:spPr>
        <p:txBody>
          <a:bodyPr anchor="t" rtlCol="false" tIns="0" lIns="0" bIns="0" rIns="0">
            <a:spAutoFit/>
          </a:bodyPr>
          <a:lstStyle/>
          <a:p>
            <a:pPr algn="ctr">
              <a:lnSpc>
                <a:spcPts val="9595"/>
              </a:lnSpc>
              <a:spcBef>
                <a:spcPct val="0"/>
              </a:spcBef>
            </a:pPr>
            <a:r>
              <a:rPr lang="en-US" sz="6854">
                <a:solidFill>
                  <a:srgbClr val="F58D05"/>
                </a:solidFill>
                <a:latin typeface="League Spartan"/>
                <a:ea typeface="League Spartan"/>
                <a:cs typeface="League Spartan"/>
                <a:sym typeface="League Spartan"/>
              </a:rPr>
              <a:t>Tinjauan Pustaka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75826" y="1319077"/>
            <a:ext cx="17483763" cy="2133451"/>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Berikan acuan penelitian yang relevan untuk tulisan ilmiah dengan rentang waktu maksimal 5Tahun ke belakang. Penyajian mengenai penelitian terdahulu sebaiknya menggunakan tabel, agar lebih mudah dibaca untuk memperoleh garis besar acuan penelitian. Berikut salah satu contoh penelitian yang relevan :</a:t>
            </a:r>
          </a:p>
        </p:txBody>
      </p:sp>
      <p:sp>
        <p:nvSpPr>
          <p:cNvPr name="TextBox 3" id="3"/>
          <p:cNvSpPr txBox="true"/>
          <p:nvPr/>
        </p:nvSpPr>
        <p:spPr>
          <a:xfrm rot="0">
            <a:off x="3469241" y="59256"/>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F26B6D"/>
                </a:solidFill>
                <a:latin typeface="League Spartan"/>
                <a:ea typeface="League Spartan"/>
                <a:cs typeface="League Spartan"/>
                <a:sym typeface="League Spartan"/>
              </a:rPr>
              <a:t>Penelitian Yang Relevan</a:t>
            </a:r>
          </a:p>
        </p:txBody>
      </p:sp>
      <p:sp>
        <p:nvSpPr>
          <p:cNvPr name="Freeform 4" id="4"/>
          <p:cNvSpPr/>
          <p:nvPr/>
        </p:nvSpPr>
        <p:spPr>
          <a:xfrm flipH="false" flipV="true" rot="-955753">
            <a:off x="-13538706" y="-6739683"/>
            <a:ext cx="16266028" cy="13249419"/>
          </a:xfrm>
          <a:custGeom>
            <a:avLst/>
            <a:gdLst/>
            <a:ahLst/>
            <a:cxnLst/>
            <a:rect r="r" b="b" t="t" l="l"/>
            <a:pathLst>
              <a:path h="13249419" w="16266028">
                <a:moveTo>
                  <a:pt x="0" y="13249419"/>
                </a:moveTo>
                <a:lnTo>
                  <a:pt x="16266029" y="13249419"/>
                </a:lnTo>
                <a:lnTo>
                  <a:pt x="16266029"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341028" y="3113614"/>
            <a:ext cx="14234446" cy="6994022"/>
          </a:xfrm>
          <a:custGeom>
            <a:avLst/>
            <a:gdLst/>
            <a:ahLst/>
            <a:cxnLst/>
            <a:rect r="r" b="b" t="t" l="l"/>
            <a:pathLst>
              <a:path h="6994022" w="14234446">
                <a:moveTo>
                  <a:pt x="0" y="0"/>
                </a:moveTo>
                <a:lnTo>
                  <a:pt x="14234447" y="0"/>
                </a:lnTo>
                <a:lnTo>
                  <a:pt x="14234447" y="6994022"/>
                </a:lnTo>
                <a:lnTo>
                  <a:pt x="0" y="6994022"/>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5459138" y="-1868130"/>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9860515" y="946737"/>
            <a:ext cx="7766814" cy="9340263"/>
          </a:xfrm>
          <a:custGeom>
            <a:avLst/>
            <a:gdLst/>
            <a:ahLst/>
            <a:cxnLst/>
            <a:rect r="r" b="b" t="t" l="l"/>
            <a:pathLst>
              <a:path h="9340263" w="7766814">
                <a:moveTo>
                  <a:pt x="0" y="0"/>
                </a:moveTo>
                <a:lnTo>
                  <a:pt x="7766813" y="0"/>
                </a:lnTo>
                <a:lnTo>
                  <a:pt x="7766813" y="9340263"/>
                </a:lnTo>
                <a:lnTo>
                  <a:pt x="0" y="93402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3326824"/>
            <a:ext cx="6513958" cy="2573762"/>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3</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38650" y="289244"/>
            <a:ext cx="12664650" cy="1336038"/>
          </a:xfrm>
          <a:prstGeom prst="rect">
            <a:avLst/>
          </a:prstGeom>
        </p:spPr>
        <p:txBody>
          <a:bodyPr anchor="t" rtlCol="false" tIns="0" lIns="0" bIns="0" rIns="0">
            <a:spAutoFit/>
          </a:bodyPr>
          <a:lstStyle/>
          <a:p>
            <a:pPr algn="ctr">
              <a:lnSpc>
                <a:spcPts val="10995"/>
              </a:lnSpc>
              <a:spcBef>
                <a:spcPct val="0"/>
              </a:spcBef>
            </a:pPr>
            <a:r>
              <a:rPr lang="en-US" sz="7854">
                <a:solidFill>
                  <a:srgbClr val="F26B6D"/>
                </a:solidFill>
                <a:latin typeface="League Spartan"/>
                <a:ea typeface="League Spartan"/>
                <a:cs typeface="League Spartan"/>
                <a:sym typeface="League Spartan"/>
              </a:rPr>
              <a:t>PEMBAHASAN</a:t>
            </a:r>
          </a:p>
        </p:txBody>
      </p:sp>
      <p:sp>
        <p:nvSpPr>
          <p:cNvPr name="Freeform 3" id="3"/>
          <p:cNvSpPr/>
          <p:nvPr/>
        </p:nvSpPr>
        <p:spPr>
          <a:xfrm flipH="false" flipV="false" rot="0">
            <a:off x="13893073" y="6132498"/>
            <a:ext cx="4303899" cy="4114800"/>
          </a:xfrm>
          <a:custGeom>
            <a:avLst/>
            <a:gdLst/>
            <a:ahLst/>
            <a:cxnLst/>
            <a:rect r="r" b="b" t="t" l="l"/>
            <a:pathLst>
              <a:path h="4114800" w="4303899">
                <a:moveTo>
                  <a:pt x="0" y="0"/>
                </a:moveTo>
                <a:lnTo>
                  <a:pt x="4303899" y="0"/>
                </a:lnTo>
                <a:lnTo>
                  <a:pt x="4303899" y="4114800"/>
                </a:lnTo>
                <a:lnTo>
                  <a:pt x="0" y="4114800"/>
                </a:lnTo>
                <a:lnTo>
                  <a:pt x="0" y="0"/>
                </a:lnTo>
                <a:close/>
              </a:path>
            </a:pathLst>
          </a:custGeom>
          <a:blipFill>
            <a:blip r:embed="rId2">
              <a:alphaModFix amt="34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808165" y="1779514"/>
            <a:ext cx="16451135" cy="8000442"/>
          </a:xfrm>
          <a:prstGeom prst="rect">
            <a:avLst/>
          </a:prstGeom>
        </p:spPr>
        <p:txBody>
          <a:bodyPr anchor="t" rtlCol="false" tIns="0" lIns="0" bIns="0" rIns="0">
            <a:spAutoFit/>
          </a:bodyPr>
          <a:lstStyle/>
          <a:p>
            <a:pPr algn="just">
              <a:lnSpc>
                <a:spcPts val="4200"/>
              </a:lnSpc>
            </a:pPr>
            <a:r>
              <a:rPr lang="en-US" sz="3000">
                <a:solidFill>
                  <a:srgbClr val="866255"/>
                </a:solidFill>
                <a:latin typeface="Arimo"/>
                <a:ea typeface="Arimo"/>
                <a:cs typeface="Arimo"/>
                <a:sym typeface="Arimo"/>
              </a:rPr>
              <a:t>Bagian pembahasan menguraikan tahapan kegiatan penelitian yang dilakukan untuk menjawab tujuan penelitian dan hasil yang dicapai sesuai dengan tujuan penelitian yang dituangkan pada subbagian 1.3. Kalimat yang digunakan pada bab ini adalah kalimat informasi bukan kalimat perintah.</a:t>
            </a:r>
          </a:p>
          <a:p>
            <a:pPr algn="just">
              <a:lnSpc>
                <a:spcPts val="4200"/>
              </a:lnSpc>
            </a:pPr>
            <a:r>
              <a:rPr lang="en-US" sz="3000">
                <a:solidFill>
                  <a:srgbClr val="866255"/>
                </a:solidFill>
                <a:latin typeface="Arimo"/>
                <a:ea typeface="Arimo"/>
                <a:cs typeface="Arimo"/>
                <a:sym typeface="Arimo"/>
              </a:rPr>
              <a:t>Pada awal bab PEMBAHASAN, Jelaskan tahapan yang dilakukan dalam penelitian ini, seperti:</a:t>
            </a:r>
          </a:p>
          <a:p>
            <a:pPr algn="just" marL="647700" indent="-323850" lvl="1">
              <a:lnSpc>
                <a:spcPts val="4200"/>
              </a:lnSpc>
              <a:buFont typeface="Arial"/>
              <a:buChar char="•"/>
            </a:pPr>
            <a:r>
              <a:rPr lang="en-US" sz="3000">
                <a:solidFill>
                  <a:srgbClr val="866255"/>
                </a:solidFill>
                <a:latin typeface="Arimo"/>
                <a:ea typeface="Arimo"/>
                <a:cs typeface="Arimo"/>
                <a:sym typeface="Arimo"/>
              </a:rPr>
              <a:t>Pengumpulan Data: Metode yang digunakan untuk mengumpulkan data (misalnya, database yang digunakan, teknik scraping, atau data dari sistem tertentu).</a:t>
            </a:r>
          </a:p>
          <a:p>
            <a:pPr algn="just" marL="647700" indent="-323850" lvl="1">
              <a:lnSpc>
                <a:spcPts val="4200"/>
              </a:lnSpc>
              <a:buFont typeface="Arial"/>
              <a:buChar char="•"/>
            </a:pPr>
            <a:r>
              <a:rPr lang="en-US" sz="3000">
                <a:solidFill>
                  <a:srgbClr val="866255"/>
                </a:solidFill>
                <a:latin typeface="Arimo"/>
                <a:ea typeface="Arimo"/>
                <a:cs typeface="Arimo"/>
                <a:sym typeface="Arimo"/>
              </a:rPr>
              <a:t>Pemodelan Basis Data: Perancangan skema basis data, normalisasi, ERD (Entity Relationship Diagram), atau teknik yang digunakan untuk mengelola data.</a:t>
            </a:r>
          </a:p>
          <a:p>
            <a:pPr algn="just" marL="647700" indent="-323850" lvl="1">
              <a:lnSpc>
                <a:spcPts val="4200"/>
              </a:lnSpc>
              <a:buFont typeface="Arial"/>
              <a:buChar char="•"/>
            </a:pPr>
            <a:r>
              <a:rPr lang="en-US" sz="3000">
                <a:solidFill>
                  <a:srgbClr val="866255"/>
                </a:solidFill>
                <a:latin typeface="Arimo"/>
                <a:ea typeface="Arimo"/>
                <a:cs typeface="Arimo"/>
                <a:sym typeface="Arimo"/>
              </a:rPr>
              <a:t>Implementasi dan Pengolahan Data: Teknologi atau tools yang digunakan dalam menyimpan dan mengolah data (SQL, NoSQL, atau Data Warehouse).</a:t>
            </a:r>
          </a:p>
          <a:p>
            <a:pPr algn="just" marL="647700" indent="-323850" lvl="1">
              <a:lnSpc>
                <a:spcPts val="4200"/>
              </a:lnSpc>
              <a:buFont typeface="Arial"/>
              <a:buChar char="•"/>
            </a:pPr>
            <a:r>
              <a:rPr lang="en-US" sz="3000">
                <a:solidFill>
                  <a:srgbClr val="866255"/>
                </a:solidFill>
                <a:latin typeface="Arimo"/>
                <a:ea typeface="Arimo"/>
                <a:cs typeface="Arimo"/>
                <a:sym typeface="Arimo"/>
              </a:rPr>
              <a:t>Analisis Data: Metode analisis yang digunakan (statistik, data mining, machine learning, atau business intelligence).</a:t>
            </a:r>
          </a:p>
          <a:p>
            <a:pPr algn="just" marL="647700" indent="-323850" lvl="1">
              <a:lnSpc>
                <a:spcPts val="4200"/>
              </a:lnSpc>
              <a:spcBef>
                <a:spcPct val="0"/>
              </a:spcBef>
              <a:buFont typeface="Arial"/>
              <a:buChar char="•"/>
            </a:pPr>
            <a:r>
              <a:rPr lang="en-US" sz="3000">
                <a:solidFill>
                  <a:srgbClr val="866255"/>
                </a:solidFill>
                <a:latin typeface="Arimo"/>
                <a:ea typeface="Arimo"/>
                <a:cs typeface="Arimo"/>
                <a:sym typeface="Arimo"/>
              </a:rPr>
              <a:t>Evaluasi dan Validasi: Uji coba sistem atau validasi hasil analisis data untuk memastikan keakuratan dan efektivitas.</a:t>
            </a:r>
          </a:p>
        </p:txBody>
      </p:sp>
      <p:sp>
        <p:nvSpPr>
          <p:cNvPr name="Freeform 5" id="5"/>
          <p:cNvSpPr/>
          <p:nvPr/>
        </p:nvSpPr>
        <p:spPr>
          <a:xfrm flipH="false" flipV="true" rot="-1449686">
            <a:off x="15514956" y="-8340653"/>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true" rot="-3635424">
            <a:off x="-13219779" y="5935123"/>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3635424">
            <a:off x="-11311683" y="-10830198"/>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0373" y="129153"/>
            <a:ext cx="12664650" cy="1336038"/>
          </a:xfrm>
          <a:prstGeom prst="rect">
            <a:avLst/>
          </a:prstGeom>
        </p:spPr>
        <p:txBody>
          <a:bodyPr anchor="t" rtlCol="false" tIns="0" lIns="0" bIns="0" rIns="0">
            <a:spAutoFit/>
          </a:bodyPr>
          <a:lstStyle/>
          <a:p>
            <a:pPr algn="ctr">
              <a:lnSpc>
                <a:spcPts val="10995"/>
              </a:lnSpc>
              <a:spcBef>
                <a:spcPct val="0"/>
              </a:spcBef>
            </a:pPr>
            <a:r>
              <a:rPr lang="en-US" sz="7854">
                <a:solidFill>
                  <a:srgbClr val="3F5785"/>
                </a:solidFill>
                <a:latin typeface="League Spartan"/>
                <a:ea typeface="League Spartan"/>
                <a:cs typeface="League Spartan"/>
                <a:sym typeface="League Spartan"/>
              </a:rPr>
              <a:t>PEMBAHASAN</a:t>
            </a:r>
          </a:p>
        </p:txBody>
      </p:sp>
      <p:sp>
        <p:nvSpPr>
          <p:cNvPr name="Freeform 3" id="3"/>
          <p:cNvSpPr/>
          <p:nvPr/>
        </p:nvSpPr>
        <p:spPr>
          <a:xfrm flipH="true" flipV="false" rot="0">
            <a:off x="-2246" y="4980743"/>
            <a:ext cx="4910519" cy="5143500"/>
          </a:xfrm>
          <a:custGeom>
            <a:avLst/>
            <a:gdLst/>
            <a:ahLst/>
            <a:cxnLst/>
            <a:rect r="r" b="b" t="t" l="l"/>
            <a:pathLst>
              <a:path h="5143500" w="4910519">
                <a:moveTo>
                  <a:pt x="4910519" y="0"/>
                </a:moveTo>
                <a:lnTo>
                  <a:pt x="0" y="0"/>
                </a:lnTo>
                <a:lnTo>
                  <a:pt x="0" y="5143500"/>
                </a:lnTo>
                <a:lnTo>
                  <a:pt x="4910519" y="5143500"/>
                </a:lnTo>
                <a:lnTo>
                  <a:pt x="4910519" y="0"/>
                </a:lnTo>
                <a:close/>
              </a:path>
            </a:pathLst>
          </a:custGeom>
          <a:blipFill>
            <a:blip r:embed="rId2">
              <a:alphaModFix amt="25000"/>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1379465"/>
            <a:ext cx="16860943" cy="7310604"/>
          </a:xfrm>
          <a:prstGeom prst="rect">
            <a:avLst/>
          </a:prstGeom>
        </p:spPr>
        <p:txBody>
          <a:bodyPr anchor="t" rtlCol="false" tIns="0" lIns="0" bIns="0" rIns="0">
            <a:spAutoFit/>
          </a:bodyPr>
          <a:lstStyle/>
          <a:p>
            <a:pPr algn="just">
              <a:lnSpc>
                <a:spcPts val="4479"/>
              </a:lnSpc>
            </a:pPr>
            <a:r>
              <a:rPr lang="en-US" sz="3199">
                <a:solidFill>
                  <a:srgbClr val="866255"/>
                </a:solidFill>
                <a:latin typeface="Arimo"/>
                <a:ea typeface="Arimo"/>
                <a:cs typeface="Arimo"/>
                <a:sym typeface="Arimo"/>
              </a:rPr>
              <a:t>Lalu bahas mengenai Hasil yang Dicapai, seperti :</a:t>
            </a:r>
          </a:p>
          <a:p>
            <a:pPr algn="just" marL="690879" indent="-345439" lvl="1">
              <a:lnSpc>
                <a:spcPts val="4479"/>
              </a:lnSpc>
              <a:buFont typeface="Arial"/>
              <a:buChar char="•"/>
            </a:pPr>
            <a:r>
              <a:rPr lang="en-US" sz="3199">
                <a:solidFill>
                  <a:srgbClr val="866255"/>
                </a:solidFill>
                <a:latin typeface="Arimo"/>
                <a:ea typeface="Arimo"/>
                <a:cs typeface="Arimo"/>
                <a:sym typeface="Arimo"/>
              </a:rPr>
              <a:t>Efisiensi dan Optimalisasi Pengelolaan Data: Hasil yang menunjukkan bagaimana sistem atau teknik yang digunakan dapat meningkatkan efisiensi pengelolaan data.</a:t>
            </a:r>
          </a:p>
          <a:p>
            <a:pPr algn="just" marL="690879" indent="-345439" lvl="1">
              <a:lnSpc>
                <a:spcPts val="4479"/>
              </a:lnSpc>
              <a:buFont typeface="Arial"/>
              <a:buChar char="•"/>
            </a:pPr>
            <a:r>
              <a:rPr lang="en-US" sz="3199">
                <a:solidFill>
                  <a:srgbClr val="866255"/>
                </a:solidFill>
                <a:latin typeface="Arimo"/>
                <a:ea typeface="Arimo"/>
                <a:cs typeface="Arimo"/>
                <a:sym typeface="Arimo"/>
              </a:rPr>
              <a:t>Akurasi dan Kecepatan Analisis Data: Dampak metode analisis terhadap kecepatan dan akurasi dalam mendapatkan wawasan dari data.</a:t>
            </a:r>
          </a:p>
          <a:p>
            <a:pPr algn="just" marL="690879" indent="-345439" lvl="1">
              <a:lnSpc>
                <a:spcPts val="4479"/>
              </a:lnSpc>
              <a:buFont typeface="Arial"/>
              <a:buChar char="•"/>
            </a:pPr>
            <a:r>
              <a:rPr lang="en-US" sz="3199">
                <a:solidFill>
                  <a:srgbClr val="866255"/>
                </a:solidFill>
                <a:latin typeface="Arimo"/>
                <a:ea typeface="Arimo"/>
                <a:cs typeface="Arimo"/>
                <a:sym typeface="Arimo"/>
              </a:rPr>
              <a:t>Implementasi dan Perbandingan Metode: Jika ada beberapa metode yang dibandingkan, tampilkan hasil perbandingan dari segi keunggulan dan kelemahannya.</a:t>
            </a:r>
          </a:p>
          <a:p>
            <a:pPr algn="just" marL="690879" indent="-345439" lvl="1">
              <a:lnSpc>
                <a:spcPts val="4479"/>
              </a:lnSpc>
              <a:buFont typeface="Arial"/>
              <a:buChar char="•"/>
            </a:pPr>
            <a:r>
              <a:rPr lang="en-US" sz="3199">
                <a:solidFill>
                  <a:srgbClr val="866255"/>
                </a:solidFill>
                <a:latin typeface="Arimo"/>
                <a:ea typeface="Arimo"/>
                <a:cs typeface="Arimo"/>
                <a:sym typeface="Arimo"/>
              </a:rPr>
              <a:t>Visualisasi Hasil Analisis: Jika ada, tampilkan grafik, tabel, atau dashboard untuk memperjelas hasil penelitian.</a:t>
            </a:r>
          </a:p>
          <a:p>
            <a:pPr algn="just">
              <a:lnSpc>
                <a:spcPts val="4479"/>
              </a:lnSpc>
            </a:pPr>
          </a:p>
          <a:p>
            <a:pPr algn="just">
              <a:lnSpc>
                <a:spcPts val="4479"/>
              </a:lnSpc>
              <a:spcBef>
                <a:spcPct val="0"/>
              </a:spcBef>
            </a:pPr>
            <a:r>
              <a:rPr lang="en-US" sz="3199">
                <a:solidFill>
                  <a:srgbClr val="866255"/>
                </a:solidFill>
                <a:latin typeface="Arimo"/>
                <a:ea typeface="Arimo"/>
                <a:cs typeface="Arimo"/>
                <a:sym typeface="Arimo"/>
              </a:rPr>
              <a:t>Jika penelitian menggunakan studi kasus tertentu, tambahkan detail mengenai bagaimana penelitian ini diterapkan dalam skenario nyata dan bagaimana hasilnya membantu dalam pengambilan keputusan atau pemecahan masalah.</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5689273" y="-8812575"/>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2936" y="4089377"/>
            <a:ext cx="3701358" cy="6197623"/>
          </a:xfrm>
          <a:custGeom>
            <a:avLst/>
            <a:gdLst/>
            <a:ahLst/>
            <a:cxnLst/>
            <a:rect r="r" b="b" t="t" l="l"/>
            <a:pathLst>
              <a:path h="6197623" w="3701358">
                <a:moveTo>
                  <a:pt x="0" y="0"/>
                </a:moveTo>
                <a:lnTo>
                  <a:pt x="3701358" y="0"/>
                </a:lnTo>
                <a:lnTo>
                  <a:pt x="3701358" y="6197623"/>
                </a:lnTo>
                <a:lnTo>
                  <a:pt x="0" y="61976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69846" y="2496072"/>
            <a:ext cx="13437017" cy="7364825"/>
          </a:xfrm>
          <a:custGeom>
            <a:avLst/>
            <a:gdLst/>
            <a:ahLst/>
            <a:cxnLst/>
            <a:rect r="r" b="b" t="t" l="l"/>
            <a:pathLst>
              <a:path h="7364825" w="13437017">
                <a:moveTo>
                  <a:pt x="0" y="0"/>
                </a:moveTo>
                <a:lnTo>
                  <a:pt x="13437017" y="0"/>
                </a:lnTo>
                <a:lnTo>
                  <a:pt x="13437017" y="7364826"/>
                </a:lnTo>
                <a:lnTo>
                  <a:pt x="0" y="7364826"/>
                </a:lnTo>
                <a:lnTo>
                  <a:pt x="0" y="0"/>
                </a:lnTo>
                <a:close/>
              </a:path>
            </a:pathLst>
          </a:custGeom>
          <a:blipFill>
            <a:blip r:embed="rId6"/>
            <a:stretch>
              <a:fillRect l="0" t="-2081" r="0" b="-2081"/>
            </a:stretch>
          </a:blipFill>
        </p:spPr>
      </p:sp>
      <p:sp>
        <p:nvSpPr>
          <p:cNvPr name="TextBox 5" id="5"/>
          <p:cNvSpPr txBox="true"/>
          <p:nvPr/>
        </p:nvSpPr>
        <p:spPr>
          <a:xfrm rot="0">
            <a:off x="3209511" y="7109"/>
            <a:ext cx="12664650" cy="1336038"/>
          </a:xfrm>
          <a:prstGeom prst="rect">
            <a:avLst/>
          </a:prstGeom>
        </p:spPr>
        <p:txBody>
          <a:bodyPr anchor="t" rtlCol="false" tIns="0" lIns="0" bIns="0" rIns="0">
            <a:spAutoFit/>
          </a:bodyPr>
          <a:lstStyle/>
          <a:p>
            <a:pPr algn="ctr">
              <a:lnSpc>
                <a:spcPts val="10995"/>
              </a:lnSpc>
              <a:spcBef>
                <a:spcPct val="0"/>
              </a:spcBef>
            </a:pPr>
            <a:r>
              <a:rPr lang="en-US" sz="7854">
                <a:solidFill>
                  <a:srgbClr val="FEC045"/>
                </a:solidFill>
                <a:latin typeface="League Spartan"/>
                <a:ea typeface="League Spartan"/>
                <a:cs typeface="League Spartan"/>
                <a:sym typeface="League Spartan"/>
              </a:rPr>
              <a:t>Pengelolaan Data</a:t>
            </a:r>
          </a:p>
        </p:txBody>
      </p:sp>
      <p:sp>
        <p:nvSpPr>
          <p:cNvPr name="TextBox 6" id="6"/>
          <p:cNvSpPr txBox="true"/>
          <p:nvPr/>
        </p:nvSpPr>
        <p:spPr>
          <a:xfrm rot="0">
            <a:off x="82852" y="1266946"/>
            <a:ext cx="17945130" cy="1066726"/>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Jika penelitian yang dilakukan adalah pengelolaan data, berikut salah satu contoh teknik dan alat yang dapat digunakan dalam penelitian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1661" y="3223583"/>
            <a:ext cx="5344947" cy="7063417"/>
          </a:xfrm>
          <a:custGeom>
            <a:avLst/>
            <a:gdLst/>
            <a:ahLst/>
            <a:cxnLst/>
            <a:rect r="r" b="b" t="t" l="l"/>
            <a:pathLst>
              <a:path h="7063417" w="5344947">
                <a:moveTo>
                  <a:pt x="0" y="0"/>
                </a:moveTo>
                <a:lnTo>
                  <a:pt x="5344947" y="0"/>
                </a:lnTo>
                <a:lnTo>
                  <a:pt x="5344947" y="7063417"/>
                </a:lnTo>
                <a:lnTo>
                  <a:pt x="0" y="7063417"/>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449686">
            <a:off x="15689273" y="-8812575"/>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0"/>
            <a:ext cx="10953544" cy="10287000"/>
          </a:xfrm>
          <a:custGeom>
            <a:avLst/>
            <a:gdLst/>
            <a:ahLst/>
            <a:cxnLst/>
            <a:rect r="r" b="b" t="t" l="l"/>
            <a:pathLst>
              <a:path h="10287000" w="10953544">
                <a:moveTo>
                  <a:pt x="0" y="0"/>
                </a:moveTo>
                <a:lnTo>
                  <a:pt x="10953544" y="0"/>
                </a:lnTo>
                <a:lnTo>
                  <a:pt x="10953544" y="10287000"/>
                </a:lnTo>
                <a:lnTo>
                  <a:pt x="0" y="10287000"/>
                </a:lnTo>
                <a:lnTo>
                  <a:pt x="0" y="0"/>
                </a:lnTo>
                <a:close/>
              </a:path>
            </a:pathLst>
          </a:custGeom>
          <a:blipFill>
            <a:blip r:embed="rId6"/>
            <a:stretch>
              <a:fillRect l="0" t="0" r="0" b="0"/>
            </a:stretch>
          </a:blipFill>
        </p:spPr>
      </p:sp>
      <p:sp>
        <p:nvSpPr>
          <p:cNvPr name="TextBox 5" id="5"/>
          <p:cNvSpPr txBox="true"/>
          <p:nvPr/>
        </p:nvSpPr>
        <p:spPr>
          <a:xfrm rot="0">
            <a:off x="11134121" y="94458"/>
            <a:ext cx="6626355" cy="2728694"/>
          </a:xfrm>
          <a:prstGeom prst="rect">
            <a:avLst/>
          </a:prstGeom>
        </p:spPr>
        <p:txBody>
          <a:bodyPr anchor="t" rtlCol="false" tIns="0" lIns="0" bIns="0" rIns="0">
            <a:spAutoFit/>
          </a:bodyPr>
          <a:lstStyle/>
          <a:p>
            <a:pPr algn="ctr">
              <a:lnSpc>
                <a:spcPts val="10995"/>
              </a:lnSpc>
            </a:pPr>
            <a:r>
              <a:rPr lang="en-US" sz="7854">
                <a:solidFill>
                  <a:srgbClr val="4724E3"/>
                </a:solidFill>
                <a:latin typeface="League Spartan"/>
                <a:ea typeface="League Spartan"/>
                <a:cs typeface="League Spartan"/>
                <a:sym typeface="League Spartan"/>
              </a:rPr>
              <a:t>Pengelolaan </a:t>
            </a:r>
          </a:p>
          <a:p>
            <a:pPr algn="ctr">
              <a:lnSpc>
                <a:spcPts val="10995"/>
              </a:lnSpc>
              <a:spcBef>
                <a:spcPct val="0"/>
              </a:spcBef>
            </a:pPr>
            <a:r>
              <a:rPr lang="en-US" sz="7854">
                <a:solidFill>
                  <a:srgbClr val="4724E3"/>
                </a:solidFill>
                <a:latin typeface="League Spartan"/>
                <a:ea typeface="League Spartan"/>
                <a:cs typeface="League Spartan"/>
                <a:sym typeface="League Spartan"/>
              </a:rPr>
              <a:t>Data</a:t>
            </a:r>
          </a:p>
        </p:txBody>
      </p:sp>
      <p:sp>
        <p:nvSpPr>
          <p:cNvPr name="TextBox 6" id="6"/>
          <p:cNvSpPr txBox="true"/>
          <p:nvPr/>
        </p:nvSpPr>
        <p:spPr>
          <a:xfrm rot="0">
            <a:off x="11283605" y="3147383"/>
            <a:ext cx="6843002" cy="2666814"/>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Jika penelitian yang dilakukan adalah pengelolaan data, tabel disamping merupakah salah satu contoh langkah-langkah yang dilakukan berdasarkan kategori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15689273" y="-8812575"/>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2936" y="4089377"/>
            <a:ext cx="3701358" cy="6197623"/>
          </a:xfrm>
          <a:custGeom>
            <a:avLst/>
            <a:gdLst/>
            <a:ahLst/>
            <a:cxnLst/>
            <a:rect r="r" b="b" t="t" l="l"/>
            <a:pathLst>
              <a:path h="6197623" w="3701358">
                <a:moveTo>
                  <a:pt x="0" y="0"/>
                </a:moveTo>
                <a:lnTo>
                  <a:pt x="3701358" y="0"/>
                </a:lnTo>
                <a:lnTo>
                  <a:pt x="3701358" y="6197623"/>
                </a:lnTo>
                <a:lnTo>
                  <a:pt x="0" y="61976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905654" y="2128450"/>
            <a:ext cx="13122328" cy="8158550"/>
          </a:xfrm>
          <a:custGeom>
            <a:avLst/>
            <a:gdLst/>
            <a:ahLst/>
            <a:cxnLst/>
            <a:rect r="r" b="b" t="t" l="l"/>
            <a:pathLst>
              <a:path h="8158550" w="13122328">
                <a:moveTo>
                  <a:pt x="0" y="0"/>
                </a:moveTo>
                <a:lnTo>
                  <a:pt x="13122328" y="0"/>
                </a:lnTo>
                <a:lnTo>
                  <a:pt x="13122328" y="8158550"/>
                </a:lnTo>
                <a:lnTo>
                  <a:pt x="0" y="8158550"/>
                </a:lnTo>
                <a:lnTo>
                  <a:pt x="0" y="0"/>
                </a:lnTo>
                <a:close/>
              </a:path>
            </a:pathLst>
          </a:custGeom>
          <a:blipFill>
            <a:blip r:embed="rId6"/>
            <a:stretch>
              <a:fillRect l="0" t="0" r="0" b="0"/>
            </a:stretch>
          </a:blipFill>
        </p:spPr>
      </p:sp>
      <p:sp>
        <p:nvSpPr>
          <p:cNvPr name="TextBox 5" id="5"/>
          <p:cNvSpPr txBox="true"/>
          <p:nvPr/>
        </p:nvSpPr>
        <p:spPr>
          <a:xfrm rot="0">
            <a:off x="3209511" y="7109"/>
            <a:ext cx="12664650" cy="1336038"/>
          </a:xfrm>
          <a:prstGeom prst="rect">
            <a:avLst/>
          </a:prstGeom>
        </p:spPr>
        <p:txBody>
          <a:bodyPr anchor="t" rtlCol="false" tIns="0" lIns="0" bIns="0" rIns="0">
            <a:spAutoFit/>
          </a:bodyPr>
          <a:lstStyle/>
          <a:p>
            <a:pPr algn="ctr">
              <a:lnSpc>
                <a:spcPts val="10995"/>
              </a:lnSpc>
              <a:spcBef>
                <a:spcPct val="0"/>
              </a:spcBef>
            </a:pPr>
            <a:r>
              <a:rPr lang="en-US" sz="7854">
                <a:solidFill>
                  <a:srgbClr val="FEC045"/>
                </a:solidFill>
                <a:latin typeface="League Spartan"/>
                <a:ea typeface="League Spartan"/>
                <a:cs typeface="League Spartan"/>
                <a:sym typeface="League Spartan"/>
              </a:rPr>
              <a:t>Analisis Data</a:t>
            </a:r>
          </a:p>
        </p:txBody>
      </p:sp>
      <p:sp>
        <p:nvSpPr>
          <p:cNvPr name="TextBox 6" id="6"/>
          <p:cNvSpPr txBox="true"/>
          <p:nvPr/>
        </p:nvSpPr>
        <p:spPr>
          <a:xfrm rot="0">
            <a:off x="82852" y="1266946"/>
            <a:ext cx="17945130" cy="1066726"/>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Jika penelitian yang dilakukan adalah analisis data, berikut salah satu contoh teknik dan alat yang dapat digunakan dalam penelitian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81661" y="3223583"/>
            <a:ext cx="5344947" cy="7063417"/>
          </a:xfrm>
          <a:custGeom>
            <a:avLst/>
            <a:gdLst/>
            <a:ahLst/>
            <a:cxnLst/>
            <a:rect r="r" b="b" t="t" l="l"/>
            <a:pathLst>
              <a:path h="7063417" w="5344947">
                <a:moveTo>
                  <a:pt x="0" y="0"/>
                </a:moveTo>
                <a:lnTo>
                  <a:pt x="5344947" y="0"/>
                </a:lnTo>
                <a:lnTo>
                  <a:pt x="5344947" y="7063417"/>
                </a:lnTo>
                <a:lnTo>
                  <a:pt x="0" y="7063417"/>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449686">
            <a:off x="15689273" y="-8812575"/>
            <a:ext cx="16266028" cy="13249419"/>
          </a:xfrm>
          <a:custGeom>
            <a:avLst/>
            <a:gdLst/>
            <a:ahLst/>
            <a:cxnLst/>
            <a:rect r="r" b="b" t="t" l="l"/>
            <a:pathLst>
              <a:path h="13249419" w="16266028">
                <a:moveTo>
                  <a:pt x="0" y="13249420"/>
                </a:moveTo>
                <a:lnTo>
                  <a:pt x="16266028" y="13249420"/>
                </a:lnTo>
                <a:lnTo>
                  <a:pt x="16266028" y="0"/>
                </a:lnTo>
                <a:lnTo>
                  <a:pt x="0" y="0"/>
                </a:lnTo>
                <a:lnTo>
                  <a:pt x="0" y="1324942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41723" y="923641"/>
            <a:ext cx="11649737" cy="8334659"/>
          </a:xfrm>
          <a:custGeom>
            <a:avLst/>
            <a:gdLst/>
            <a:ahLst/>
            <a:cxnLst/>
            <a:rect r="r" b="b" t="t" l="l"/>
            <a:pathLst>
              <a:path h="8334659" w="11649737">
                <a:moveTo>
                  <a:pt x="0" y="0"/>
                </a:moveTo>
                <a:lnTo>
                  <a:pt x="11649737" y="0"/>
                </a:lnTo>
                <a:lnTo>
                  <a:pt x="11649737" y="8334659"/>
                </a:lnTo>
                <a:lnTo>
                  <a:pt x="0" y="8334659"/>
                </a:lnTo>
                <a:lnTo>
                  <a:pt x="0" y="0"/>
                </a:lnTo>
                <a:close/>
              </a:path>
            </a:pathLst>
          </a:custGeom>
          <a:blipFill>
            <a:blip r:embed="rId6"/>
            <a:stretch>
              <a:fillRect l="-304" t="0" r="-304" b="0"/>
            </a:stretch>
          </a:blipFill>
        </p:spPr>
      </p:sp>
      <p:sp>
        <p:nvSpPr>
          <p:cNvPr name="TextBox 5" id="5"/>
          <p:cNvSpPr txBox="true"/>
          <p:nvPr/>
        </p:nvSpPr>
        <p:spPr>
          <a:xfrm rot="0">
            <a:off x="11500253" y="70049"/>
            <a:ext cx="6626355" cy="2728694"/>
          </a:xfrm>
          <a:prstGeom prst="rect">
            <a:avLst/>
          </a:prstGeom>
        </p:spPr>
        <p:txBody>
          <a:bodyPr anchor="t" rtlCol="false" tIns="0" lIns="0" bIns="0" rIns="0">
            <a:spAutoFit/>
          </a:bodyPr>
          <a:lstStyle/>
          <a:p>
            <a:pPr algn="ctr">
              <a:lnSpc>
                <a:spcPts val="10995"/>
              </a:lnSpc>
            </a:pPr>
            <a:r>
              <a:rPr lang="en-US" sz="7854">
                <a:solidFill>
                  <a:srgbClr val="4724E3"/>
                </a:solidFill>
                <a:latin typeface="League Spartan"/>
                <a:ea typeface="League Spartan"/>
                <a:cs typeface="League Spartan"/>
                <a:sym typeface="League Spartan"/>
              </a:rPr>
              <a:t>Analisis </a:t>
            </a:r>
          </a:p>
          <a:p>
            <a:pPr algn="ctr">
              <a:lnSpc>
                <a:spcPts val="10995"/>
              </a:lnSpc>
              <a:spcBef>
                <a:spcPct val="0"/>
              </a:spcBef>
            </a:pPr>
            <a:r>
              <a:rPr lang="en-US" sz="7854">
                <a:solidFill>
                  <a:srgbClr val="4724E3"/>
                </a:solidFill>
                <a:latin typeface="League Spartan"/>
                <a:ea typeface="League Spartan"/>
                <a:cs typeface="League Spartan"/>
                <a:sym typeface="League Spartan"/>
              </a:rPr>
              <a:t>Data</a:t>
            </a:r>
          </a:p>
        </p:txBody>
      </p:sp>
      <p:sp>
        <p:nvSpPr>
          <p:cNvPr name="TextBox 6" id="6"/>
          <p:cNvSpPr txBox="true"/>
          <p:nvPr/>
        </p:nvSpPr>
        <p:spPr>
          <a:xfrm rot="0">
            <a:off x="11991460" y="3147383"/>
            <a:ext cx="6135147" cy="2666814"/>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Jika penelitian yang dilakukan adalah Analisis data, tabel disamping merupakah salah satu contoh langkah-langkah yang dilakukan berdasarkan kategori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8489548" y="-2135579"/>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0" y="2673717"/>
            <a:ext cx="7655038" cy="7613283"/>
          </a:xfrm>
          <a:custGeom>
            <a:avLst/>
            <a:gdLst/>
            <a:ahLst/>
            <a:cxnLst/>
            <a:rect r="r" b="b" t="t" l="l"/>
            <a:pathLst>
              <a:path h="7613283" w="7655038">
                <a:moveTo>
                  <a:pt x="7655038" y="0"/>
                </a:moveTo>
                <a:lnTo>
                  <a:pt x="0" y="0"/>
                </a:lnTo>
                <a:lnTo>
                  <a:pt x="0" y="7613283"/>
                </a:lnTo>
                <a:lnTo>
                  <a:pt x="7655038" y="7613283"/>
                </a:lnTo>
                <a:lnTo>
                  <a:pt x="765503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745342" y="3713744"/>
            <a:ext cx="6513958" cy="2573794"/>
          </a:xfrm>
          <a:prstGeom prst="rect">
            <a:avLst/>
          </a:prstGeom>
        </p:spPr>
        <p:txBody>
          <a:bodyPr anchor="t" rtlCol="false" tIns="0" lIns="0" bIns="0" rIns="0">
            <a:spAutoFit/>
          </a:bodyPr>
          <a:lstStyle/>
          <a:p>
            <a:pPr algn="ctr">
              <a:lnSpc>
                <a:spcPts val="21085"/>
              </a:lnSpc>
              <a:spcBef>
                <a:spcPct val="0"/>
              </a:spcBef>
            </a:pPr>
            <a:r>
              <a:rPr lang="en-US" sz="15061">
                <a:solidFill>
                  <a:srgbClr val="FFFFFF"/>
                </a:solidFill>
                <a:latin typeface="League Spartan"/>
                <a:ea typeface="League Spartan"/>
                <a:cs typeface="League Spartan"/>
                <a:sym typeface="League Spartan"/>
              </a:rPr>
              <a:t>BAB 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3391530"/>
            <a:ext cx="1233504" cy="930985"/>
            <a:chOff x="0" y="0"/>
            <a:chExt cx="324873" cy="245198"/>
          </a:xfrm>
        </p:grpSpPr>
        <p:sp>
          <p:nvSpPr>
            <p:cNvPr name="Freeform 3" id="3"/>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4" id="4"/>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1</a:t>
              </a:r>
            </a:p>
          </p:txBody>
        </p:sp>
      </p:grpSp>
      <p:grpSp>
        <p:nvGrpSpPr>
          <p:cNvPr name="Group 5" id="5"/>
          <p:cNvGrpSpPr/>
          <p:nvPr/>
        </p:nvGrpSpPr>
        <p:grpSpPr>
          <a:xfrm rot="0">
            <a:off x="1028700" y="6804297"/>
            <a:ext cx="1233504" cy="930985"/>
            <a:chOff x="0" y="0"/>
            <a:chExt cx="324873" cy="245198"/>
          </a:xfrm>
        </p:grpSpPr>
        <p:sp>
          <p:nvSpPr>
            <p:cNvPr name="Freeform 6" id="6"/>
            <p:cNvSpPr/>
            <p:nvPr/>
          </p:nvSpPr>
          <p:spPr>
            <a:xfrm flipH="false" flipV="false" rot="0">
              <a:off x="0" y="0"/>
              <a:ext cx="324873" cy="245198"/>
            </a:xfrm>
            <a:custGeom>
              <a:avLst/>
              <a:gdLst/>
              <a:ahLst/>
              <a:cxnLst/>
              <a:rect r="r" b="b" t="t" l="l"/>
              <a:pathLst>
                <a:path h="245198" w="324873">
                  <a:moveTo>
                    <a:pt x="69040" y="0"/>
                  </a:moveTo>
                  <a:lnTo>
                    <a:pt x="255833" y="0"/>
                  </a:lnTo>
                  <a:cubicBezTo>
                    <a:pt x="293963" y="0"/>
                    <a:pt x="324873" y="30910"/>
                    <a:pt x="324873" y="69040"/>
                  </a:cubicBezTo>
                  <a:lnTo>
                    <a:pt x="324873" y="176158"/>
                  </a:lnTo>
                  <a:cubicBezTo>
                    <a:pt x="324873" y="214288"/>
                    <a:pt x="293963" y="245198"/>
                    <a:pt x="255833" y="245198"/>
                  </a:cubicBezTo>
                  <a:lnTo>
                    <a:pt x="69040" y="245198"/>
                  </a:lnTo>
                  <a:cubicBezTo>
                    <a:pt x="30910" y="245198"/>
                    <a:pt x="0" y="214288"/>
                    <a:pt x="0" y="176158"/>
                  </a:cubicBezTo>
                  <a:lnTo>
                    <a:pt x="0" y="69040"/>
                  </a:lnTo>
                  <a:cubicBezTo>
                    <a:pt x="0" y="30910"/>
                    <a:pt x="30910" y="0"/>
                    <a:pt x="69040" y="0"/>
                  </a:cubicBezTo>
                  <a:close/>
                </a:path>
              </a:pathLst>
            </a:custGeom>
            <a:solidFill>
              <a:srgbClr val="7B95F9"/>
            </a:solidFill>
          </p:spPr>
        </p:sp>
        <p:sp>
          <p:nvSpPr>
            <p:cNvPr name="TextBox 7" id="7"/>
            <p:cNvSpPr txBox="true"/>
            <p:nvPr/>
          </p:nvSpPr>
          <p:spPr>
            <a:xfrm>
              <a:off x="0" y="-95250"/>
              <a:ext cx="324873" cy="340448"/>
            </a:xfrm>
            <a:prstGeom prst="rect">
              <a:avLst/>
            </a:prstGeom>
          </p:spPr>
          <p:txBody>
            <a:bodyPr anchor="ctr" rtlCol="false" tIns="50800" lIns="50800" bIns="50800" rIns="50800"/>
            <a:lstStyle/>
            <a:p>
              <a:pPr algn="ctr">
                <a:lnSpc>
                  <a:spcPts val="5879"/>
                </a:lnSpc>
              </a:pPr>
              <a:r>
                <a:rPr lang="en-US" b="true" sz="4199">
                  <a:solidFill>
                    <a:srgbClr val="FFFFFF"/>
                  </a:solidFill>
                  <a:latin typeface="Arimo Bold"/>
                  <a:ea typeface="Arimo Bold"/>
                  <a:cs typeface="Arimo Bold"/>
                  <a:sym typeface="Arimo Bold"/>
                </a:rPr>
                <a:t>2</a:t>
              </a:r>
            </a:p>
          </p:txBody>
        </p:sp>
      </p:grpSp>
      <p:sp>
        <p:nvSpPr>
          <p:cNvPr name="Freeform 8" id="8"/>
          <p:cNvSpPr/>
          <p:nvPr/>
        </p:nvSpPr>
        <p:spPr>
          <a:xfrm flipH="false" flipV="false" rot="0">
            <a:off x="10361331" y="2063320"/>
            <a:ext cx="7926669" cy="8148912"/>
          </a:xfrm>
          <a:custGeom>
            <a:avLst/>
            <a:gdLst/>
            <a:ahLst/>
            <a:cxnLst/>
            <a:rect r="r" b="b" t="t" l="l"/>
            <a:pathLst>
              <a:path h="8148912" w="7926669">
                <a:moveTo>
                  <a:pt x="0" y="0"/>
                </a:moveTo>
                <a:lnTo>
                  <a:pt x="7926669" y="0"/>
                </a:lnTo>
                <a:lnTo>
                  <a:pt x="7926669" y="8148912"/>
                </a:lnTo>
                <a:lnTo>
                  <a:pt x="0" y="81489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3380373" y="885825"/>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F58D05"/>
                </a:solidFill>
                <a:latin typeface="League Spartan"/>
                <a:ea typeface="League Spartan"/>
                <a:cs typeface="League Spartan"/>
                <a:sym typeface="League Spartan"/>
              </a:rPr>
              <a:t>Kesimpulan</a:t>
            </a:r>
          </a:p>
        </p:txBody>
      </p:sp>
      <p:sp>
        <p:nvSpPr>
          <p:cNvPr name="TextBox 10" id="10"/>
          <p:cNvSpPr txBox="true"/>
          <p:nvPr/>
        </p:nvSpPr>
        <p:spPr>
          <a:xfrm rot="0">
            <a:off x="3022883" y="2752123"/>
            <a:ext cx="7132036" cy="2666814"/>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Kesimpulan berisikan jawaban dari apa yang menjadi tujuan penelitian yang telah dituangkan pada subbagian 1.3 dan menuangkan hasil ujicoba yang telah dilakukan pada bagian 3.</a:t>
            </a:r>
          </a:p>
        </p:txBody>
      </p:sp>
      <p:sp>
        <p:nvSpPr>
          <p:cNvPr name="TextBox 11" id="11"/>
          <p:cNvSpPr txBox="true"/>
          <p:nvPr/>
        </p:nvSpPr>
        <p:spPr>
          <a:xfrm rot="0">
            <a:off x="3022883" y="6164889"/>
            <a:ext cx="7132036" cy="2666814"/>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Kesimpulan juga dapat dilengkapi berdasarkan hasil ujicoba yang tertulis pada bab 3 sehingga dapat  mendukung jawaban dari tujuan yang diharapkan pada sub.bagian 1.3.</a:t>
            </a:r>
          </a:p>
        </p:txBody>
      </p:sp>
      <p:sp>
        <p:nvSpPr>
          <p:cNvPr name="Freeform 12" id="12"/>
          <p:cNvSpPr/>
          <p:nvPr/>
        </p:nvSpPr>
        <p:spPr>
          <a:xfrm flipH="false" flipV="true" rot="-772995">
            <a:off x="-13386261" y="-7626242"/>
            <a:ext cx="16266028" cy="13249419"/>
          </a:xfrm>
          <a:custGeom>
            <a:avLst/>
            <a:gdLst/>
            <a:ahLst/>
            <a:cxnLst/>
            <a:rect r="r" b="b" t="t" l="l"/>
            <a:pathLst>
              <a:path h="13249419" w="16266028">
                <a:moveTo>
                  <a:pt x="0" y="13249419"/>
                </a:moveTo>
                <a:lnTo>
                  <a:pt x="16266028" y="13249419"/>
                </a:lnTo>
                <a:lnTo>
                  <a:pt x="16266028" y="0"/>
                </a:lnTo>
                <a:lnTo>
                  <a:pt x="0" y="0"/>
                </a:lnTo>
                <a:lnTo>
                  <a:pt x="0" y="13249419"/>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741490" y="3511808"/>
            <a:ext cx="6546510" cy="6730057"/>
          </a:xfrm>
          <a:custGeom>
            <a:avLst/>
            <a:gdLst/>
            <a:ahLst/>
            <a:cxnLst/>
            <a:rect r="r" b="b" t="t" l="l"/>
            <a:pathLst>
              <a:path h="6730057" w="6546510">
                <a:moveTo>
                  <a:pt x="0" y="0"/>
                </a:moveTo>
                <a:lnTo>
                  <a:pt x="6546510" y="0"/>
                </a:lnTo>
                <a:lnTo>
                  <a:pt x="6546510" y="6730057"/>
                </a:lnTo>
                <a:lnTo>
                  <a:pt x="0" y="67300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33719" y="289252"/>
            <a:ext cx="12664650" cy="1336021"/>
          </a:xfrm>
          <a:prstGeom prst="rect">
            <a:avLst/>
          </a:prstGeom>
        </p:spPr>
        <p:txBody>
          <a:bodyPr anchor="t" rtlCol="false" tIns="0" lIns="0" bIns="0" rIns="0">
            <a:spAutoFit/>
          </a:bodyPr>
          <a:lstStyle/>
          <a:p>
            <a:pPr algn="ctr">
              <a:lnSpc>
                <a:spcPts val="10995"/>
              </a:lnSpc>
              <a:spcBef>
                <a:spcPct val="0"/>
              </a:spcBef>
            </a:pPr>
            <a:r>
              <a:rPr lang="en-US" sz="7854">
                <a:solidFill>
                  <a:srgbClr val="F35FA8"/>
                </a:solidFill>
                <a:latin typeface="League Spartan"/>
                <a:ea typeface="League Spartan"/>
                <a:cs typeface="League Spartan"/>
                <a:sym typeface="League Spartan"/>
              </a:rPr>
              <a:t>Saran</a:t>
            </a:r>
          </a:p>
        </p:txBody>
      </p:sp>
      <p:sp>
        <p:nvSpPr>
          <p:cNvPr name="TextBox 4" id="4"/>
          <p:cNvSpPr txBox="true"/>
          <p:nvPr/>
        </p:nvSpPr>
        <p:spPr>
          <a:xfrm rot="0">
            <a:off x="244088" y="2145646"/>
            <a:ext cx="18043912" cy="1600088"/>
          </a:xfrm>
          <a:prstGeom prst="rect">
            <a:avLst/>
          </a:prstGeom>
        </p:spPr>
        <p:txBody>
          <a:bodyPr anchor="t" rtlCol="false" tIns="0" lIns="0" bIns="0" rIns="0">
            <a:spAutoFit/>
          </a:bodyPr>
          <a:lstStyle/>
          <a:p>
            <a:pPr algn="just">
              <a:lnSpc>
                <a:spcPts val="4200"/>
              </a:lnSpc>
              <a:spcBef>
                <a:spcPct val="0"/>
              </a:spcBef>
            </a:pPr>
            <a:r>
              <a:rPr lang="en-US" sz="3000">
                <a:solidFill>
                  <a:srgbClr val="866255"/>
                </a:solidFill>
                <a:latin typeface="Arimo"/>
                <a:ea typeface="Arimo"/>
                <a:cs typeface="Arimo"/>
                <a:sym typeface="Arimo"/>
              </a:rPr>
              <a:t>saran pada tulisan ilmiah, isinya harus relevan dengan penelitian yang telah dilakukan dan memberikan arahan untuk pengembangan lebih lanjut. Jelaskan kemungkinan pengembangan penelitian lebih lanjut, misalnya:</a:t>
            </a:r>
          </a:p>
        </p:txBody>
      </p:sp>
      <p:sp>
        <p:nvSpPr>
          <p:cNvPr name="TextBox 5" id="5"/>
          <p:cNvSpPr txBox="true"/>
          <p:nvPr/>
        </p:nvSpPr>
        <p:spPr>
          <a:xfrm rot="0">
            <a:off x="244088" y="3899375"/>
            <a:ext cx="11487777" cy="4266902"/>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866255"/>
                </a:solidFill>
                <a:latin typeface="Arimo"/>
                <a:ea typeface="Arimo"/>
                <a:cs typeface="Arimo"/>
                <a:sym typeface="Arimo"/>
              </a:rPr>
              <a:t>Peningkatan Metode atau Model</a:t>
            </a:r>
          </a:p>
          <a:p>
            <a:pPr algn="just" marL="647700" indent="-323850" lvl="1">
              <a:lnSpc>
                <a:spcPts val="4200"/>
              </a:lnSpc>
              <a:buFont typeface="Arial"/>
              <a:buChar char="•"/>
            </a:pPr>
            <a:r>
              <a:rPr lang="en-US" sz="3000">
                <a:solidFill>
                  <a:srgbClr val="866255"/>
                </a:solidFill>
                <a:latin typeface="Arimo"/>
                <a:ea typeface="Arimo"/>
                <a:cs typeface="Arimo"/>
                <a:sym typeface="Arimo"/>
              </a:rPr>
              <a:t>Penggunaan Dataset yang Lebih Besar atau Beragam</a:t>
            </a:r>
          </a:p>
          <a:p>
            <a:pPr algn="just" marL="647700" indent="-323850" lvl="1">
              <a:lnSpc>
                <a:spcPts val="4200"/>
              </a:lnSpc>
              <a:buFont typeface="Arial"/>
              <a:buChar char="•"/>
            </a:pPr>
            <a:r>
              <a:rPr lang="en-US" sz="3000">
                <a:solidFill>
                  <a:srgbClr val="866255"/>
                </a:solidFill>
                <a:latin typeface="Arimo"/>
                <a:ea typeface="Arimo"/>
                <a:cs typeface="Arimo"/>
                <a:sym typeface="Arimo"/>
              </a:rPr>
              <a:t>Integrasi dengan Teknologi Baru </a:t>
            </a:r>
          </a:p>
          <a:p>
            <a:pPr algn="just">
              <a:lnSpc>
                <a:spcPts val="4200"/>
              </a:lnSpc>
            </a:pPr>
          </a:p>
          <a:p>
            <a:pPr algn="just">
              <a:lnSpc>
                <a:spcPts val="4200"/>
              </a:lnSpc>
              <a:spcBef>
                <a:spcPct val="0"/>
              </a:spcBef>
            </a:pPr>
            <a:r>
              <a:rPr lang="en-US" sz="3000">
                <a:solidFill>
                  <a:srgbClr val="866255"/>
                </a:solidFill>
                <a:latin typeface="Arimo"/>
                <a:ea typeface="Arimo"/>
                <a:cs typeface="Arimo"/>
                <a:sym typeface="Arimo"/>
              </a:rPr>
              <a:t>Jika dalam proses pembuatan Tulisan Ilmiah penulis ada keterbatasan dalam perolehan data, maka pada saran dapat menyebutkan keterbatasan penelitian dan bagaimana penelitian selanjutnya mungkin dapat mengatasinya.</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3360545">
            <a:off x="-2332878" y="-10495517"/>
            <a:ext cx="27388416" cy="22309109"/>
          </a:xfrm>
          <a:custGeom>
            <a:avLst/>
            <a:gdLst/>
            <a:ahLst/>
            <a:cxnLst/>
            <a:rect r="r" b="b" t="t" l="l"/>
            <a:pathLst>
              <a:path h="22309109" w="27388416">
                <a:moveTo>
                  <a:pt x="0" y="22309109"/>
                </a:moveTo>
                <a:lnTo>
                  <a:pt x="27388415" y="22309109"/>
                </a:lnTo>
                <a:lnTo>
                  <a:pt x="27388415" y="0"/>
                </a:lnTo>
                <a:lnTo>
                  <a:pt x="0" y="0"/>
                </a:lnTo>
                <a:lnTo>
                  <a:pt x="0" y="2230910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2044" y="2664381"/>
            <a:ext cx="18043912" cy="5888055"/>
          </a:xfrm>
          <a:prstGeom prst="rect">
            <a:avLst/>
          </a:prstGeom>
        </p:spPr>
        <p:txBody>
          <a:bodyPr anchor="t" rtlCol="false" tIns="0" lIns="0" bIns="0" rIns="0">
            <a:spAutoFit/>
          </a:bodyPr>
          <a:lstStyle/>
          <a:p>
            <a:pPr algn="just" marL="798826" indent="-399413" lvl="1">
              <a:lnSpc>
                <a:spcPts val="5179"/>
              </a:lnSpc>
              <a:buFont typeface="Arial"/>
              <a:buChar char="•"/>
            </a:pPr>
            <a:r>
              <a:rPr lang="en-US" sz="3699">
                <a:solidFill>
                  <a:srgbClr val="866255"/>
                </a:solidFill>
                <a:latin typeface="Fredoka"/>
                <a:ea typeface="Fredoka"/>
                <a:cs typeface="Fredoka"/>
                <a:sym typeface="Fredoka"/>
              </a:rPr>
              <a:t>Buatlah draft penulisan bagian PENDAHULUAN (Boleh sama dengan PI yang dikirimkan ke pembimbing)</a:t>
            </a:r>
          </a:p>
          <a:p>
            <a:pPr algn="just" marL="798826" indent="-399413" lvl="1">
              <a:lnSpc>
                <a:spcPts val="5179"/>
              </a:lnSpc>
              <a:buFont typeface="Arial"/>
              <a:buChar char="•"/>
            </a:pPr>
            <a:r>
              <a:rPr lang="en-US" sz="3699">
                <a:solidFill>
                  <a:srgbClr val="866255"/>
                </a:solidFill>
                <a:latin typeface="Fredoka"/>
                <a:ea typeface="Fredoka"/>
                <a:cs typeface="Fredoka"/>
                <a:sym typeface="Fredoka"/>
              </a:rPr>
              <a:t>Kirim draft tersebut ke email : prodisi@gunadarma.ac.id</a:t>
            </a:r>
          </a:p>
          <a:p>
            <a:pPr algn="just" marL="798826" indent="-399413" lvl="1">
              <a:lnSpc>
                <a:spcPts val="5179"/>
              </a:lnSpc>
              <a:buFont typeface="Arial"/>
              <a:buChar char="•"/>
            </a:pPr>
            <a:r>
              <a:rPr lang="en-US" sz="3699">
                <a:solidFill>
                  <a:srgbClr val="866255"/>
                </a:solidFill>
                <a:latin typeface="Fredoka"/>
                <a:ea typeface="Fredoka"/>
                <a:cs typeface="Fredoka"/>
                <a:sym typeface="Fredoka"/>
              </a:rPr>
              <a:t>Dikumpulkan paling lambat, Sabtu-19 April 2025 pukul 23.59 WIB (Email di terima oleh jurusan)</a:t>
            </a:r>
          </a:p>
          <a:p>
            <a:pPr algn="just" marL="798826" indent="-399413" lvl="1">
              <a:lnSpc>
                <a:spcPts val="5179"/>
              </a:lnSpc>
              <a:buFont typeface="Arial"/>
              <a:buChar char="•"/>
            </a:pPr>
            <a:r>
              <a:rPr lang="en-US" sz="3699">
                <a:solidFill>
                  <a:srgbClr val="866255"/>
                </a:solidFill>
                <a:latin typeface="Fredoka"/>
                <a:ea typeface="Fredoka"/>
                <a:cs typeface="Fredoka"/>
                <a:sym typeface="Fredoka"/>
              </a:rPr>
              <a:t>Nama File : NamaMahasiswa_DraftBagian1</a:t>
            </a:r>
          </a:p>
          <a:p>
            <a:pPr algn="just" marL="798826" indent="-399413" lvl="1">
              <a:lnSpc>
                <a:spcPts val="5179"/>
              </a:lnSpc>
              <a:buFont typeface="Arial"/>
              <a:buChar char="•"/>
            </a:pPr>
            <a:r>
              <a:rPr lang="en-US" sz="3699">
                <a:solidFill>
                  <a:srgbClr val="866255"/>
                </a:solidFill>
                <a:latin typeface="Fredoka"/>
                <a:ea typeface="Fredoka"/>
                <a:cs typeface="Fredoka"/>
                <a:sym typeface="Fredoka"/>
              </a:rPr>
              <a:t>Mahasiswa yang mengirim draft bagian 1 akan mendapatkan sertifikat workshop PI kegiatan hari ini.</a:t>
            </a:r>
          </a:p>
          <a:p>
            <a:pPr algn="just" marL="798826" indent="-399413" lvl="1">
              <a:lnSpc>
                <a:spcPts val="5179"/>
              </a:lnSpc>
              <a:buFont typeface="Arial"/>
              <a:buChar char="•"/>
            </a:pPr>
            <a:r>
              <a:rPr lang="en-US" sz="3699">
                <a:solidFill>
                  <a:srgbClr val="866255"/>
                </a:solidFill>
                <a:latin typeface="Fredoka"/>
                <a:ea typeface="Fredoka"/>
                <a:cs typeface="Fredoka"/>
                <a:sym typeface="Fredoka"/>
              </a:rPr>
              <a:t>Sertifikat akan dikirimkan ke email peserta</a:t>
            </a:r>
          </a:p>
        </p:txBody>
      </p:sp>
      <p:sp>
        <p:nvSpPr>
          <p:cNvPr name="Freeform 4" id="4"/>
          <p:cNvSpPr/>
          <p:nvPr/>
        </p:nvSpPr>
        <p:spPr>
          <a:xfrm flipH="false" flipV="false" rot="0">
            <a:off x="1028700" y="0"/>
            <a:ext cx="5585894" cy="2388823"/>
          </a:xfrm>
          <a:custGeom>
            <a:avLst/>
            <a:gdLst/>
            <a:ahLst/>
            <a:cxnLst/>
            <a:rect r="r" b="b" t="t" l="l"/>
            <a:pathLst>
              <a:path h="2388823" w="5585894">
                <a:moveTo>
                  <a:pt x="0" y="0"/>
                </a:moveTo>
                <a:lnTo>
                  <a:pt x="5585894" y="0"/>
                </a:lnTo>
                <a:lnTo>
                  <a:pt x="5585894" y="2388823"/>
                </a:lnTo>
                <a:lnTo>
                  <a:pt x="0" y="2388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2180828" y="7607892"/>
            <a:ext cx="5985128" cy="2679108"/>
          </a:xfrm>
          <a:custGeom>
            <a:avLst/>
            <a:gdLst/>
            <a:ahLst/>
            <a:cxnLst/>
            <a:rect r="r" b="b" t="t" l="l"/>
            <a:pathLst>
              <a:path h="2679108" w="5985128">
                <a:moveTo>
                  <a:pt x="0" y="0"/>
                </a:moveTo>
                <a:lnTo>
                  <a:pt x="5985128" y="0"/>
                </a:lnTo>
                <a:lnTo>
                  <a:pt x="5985128" y="2679108"/>
                </a:lnTo>
                <a:lnTo>
                  <a:pt x="0" y="26791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094951" y="0"/>
            <a:ext cx="3260303" cy="2981696"/>
          </a:xfrm>
          <a:custGeom>
            <a:avLst/>
            <a:gdLst/>
            <a:ahLst/>
            <a:cxnLst/>
            <a:rect r="r" b="b" t="t" l="l"/>
            <a:pathLst>
              <a:path h="2981696" w="3260303">
                <a:moveTo>
                  <a:pt x="0" y="0"/>
                </a:moveTo>
                <a:lnTo>
                  <a:pt x="3260303" y="0"/>
                </a:lnTo>
                <a:lnTo>
                  <a:pt x="3260303" y="2981696"/>
                </a:lnTo>
                <a:lnTo>
                  <a:pt x="0" y="29816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1449686">
            <a:off x="5185029" y="-11154555"/>
            <a:ext cx="27388416" cy="22309109"/>
          </a:xfrm>
          <a:custGeom>
            <a:avLst/>
            <a:gdLst/>
            <a:ahLst/>
            <a:cxnLst/>
            <a:rect r="r" b="b" t="t" l="l"/>
            <a:pathLst>
              <a:path h="22309109" w="27388416">
                <a:moveTo>
                  <a:pt x="0" y="22309110"/>
                </a:moveTo>
                <a:lnTo>
                  <a:pt x="27388415" y="22309110"/>
                </a:lnTo>
                <a:lnTo>
                  <a:pt x="27388415" y="0"/>
                </a:lnTo>
                <a:lnTo>
                  <a:pt x="0" y="0"/>
                </a:lnTo>
                <a:lnTo>
                  <a:pt x="0" y="2230911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3952303"/>
            <a:ext cx="6130879" cy="5305997"/>
          </a:xfrm>
          <a:custGeom>
            <a:avLst/>
            <a:gdLst/>
            <a:ahLst/>
            <a:cxnLst/>
            <a:rect r="r" b="b" t="t" l="l"/>
            <a:pathLst>
              <a:path h="5305997" w="6130879">
                <a:moveTo>
                  <a:pt x="0" y="0"/>
                </a:moveTo>
                <a:lnTo>
                  <a:pt x="6130879" y="0"/>
                </a:lnTo>
                <a:lnTo>
                  <a:pt x="6130879" y="5305997"/>
                </a:lnTo>
                <a:lnTo>
                  <a:pt x="0" y="53059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459755" y="2381046"/>
            <a:ext cx="8394197" cy="5524908"/>
          </a:xfrm>
          <a:custGeom>
            <a:avLst/>
            <a:gdLst/>
            <a:ahLst/>
            <a:cxnLst/>
            <a:rect r="r" b="b" t="t" l="l"/>
            <a:pathLst>
              <a:path h="5524908" w="8394197">
                <a:moveTo>
                  <a:pt x="0" y="0"/>
                </a:moveTo>
                <a:lnTo>
                  <a:pt x="8394198" y="0"/>
                </a:lnTo>
                <a:lnTo>
                  <a:pt x="8394198" y="5524908"/>
                </a:lnTo>
                <a:lnTo>
                  <a:pt x="0" y="552490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DAGiRV349LQ</dc:identifier>
  <dcterms:modified xsi:type="dcterms:W3CDTF">2011-08-01T06:04:30Z</dcterms:modified>
  <cp:revision>1</cp:revision>
  <dc:title>WORKSHOP</dc:title>
</cp:coreProperties>
</file>